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914400"/>
            <a:ext cx="8229600" cy="22860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F5F5F5"/>
                </a:solidFill>
              </a:rPr>
              <a:t>COMP3011:</a:t>
            </a:r>
          </a:p>
          <a:p>
            <a:pPr algn="ctr">
              <a:spcBef>
                <a:spcPts val="400"/>
              </a:spcBef>
              <a:spcAft>
                <a:spcPts val="0"/>
              </a:spcAft>
            </a:pPr>
            <a:r>
              <a:rPr sz="4000" b="1">
                <a:solidFill>
                  <a:srgbClr val="F5F5F5"/>
                </a:solidFill>
              </a:rPr>
              <a:t>Habit &amp; Productivity</a:t>
            </a:r>
          </a:p>
          <a:p>
            <a:pPr algn="ctr">
              <a:spcBef>
                <a:spcPts val="400"/>
              </a:spcBef>
              <a:spcAft>
                <a:spcPts val="0"/>
              </a:spcAft>
            </a:pPr>
            <a:r>
              <a:rPr sz="4000" b="1">
                <a:solidFill>
                  <a:srgbClr val="F5F5F5"/>
                </a:solidFill>
              </a:rPr>
              <a:t>Analytics API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429000"/>
            <a:ext cx="7315200" cy="9144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1800" b="0">
                <a:solidFill>
                  <a:srgbClr val="A0A0A0"/>
                </a:solidFill>
              </a:rPr>
              <a:t>Building a modern data-driven system for habit tracking and productivity analytics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743200" y="4663440"/>
            <a:ext cx="3657600" cy="137160"/>
          </a:xfrm>
          <a:prstGeom prst="roundRect">
            <a:avLst/>
          </a:prstGeom>
          <a:solidFill>
            <a:srgbClr val="06B6D4"/>
          </a:solidFill>
          <a:ln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4400" b="1">
                <a:solidFill>
                  <a:srgbClr val="F5F5F5"/>
                </a:solidFill>
              </a:defRPr>
            </a:pPr>
            <a:r>
              <a:t>The Problem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188720"/>
            <a:ext cx="3840480" cy="5029200"/>
          </a:xfrm>
          <a:prstGeom prst="roundRect">
            <a:avLst/>
          </a:prstGeom>
          <a:solidFill>
            <a:srgbClr val="2A2A2A"/>
          </a:solidFill>
          <a:ln w="25400"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347472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 b="1">
                <a:solidFill>
                  <a:srgbClr val="F5F5F5"/>
                </a:solidFill>
              </a:defRPr>
            </a:pPr>
            <a:r>
              <a:t>The Challenge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400">
                <a:solidFill>
                  <a:srgbClr val="F5F5F5"/>
                </a:solidFill>
              </a:defRPr>
            </a:pPr>
            <a:r>
              <a:t>Humans are inconsistent</a:t>
            </a:r>
            <a:br/>
            <a:r>
              <a:t>with habits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400">
                <a:solidFill>
                  <a:srgbClr val="F5F5F5"/>
                </a:solidFill>
              </a:defRPr>
            </a:pPr>
            <a:r>
              <a:t>No visibility into patterns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400">
                <a:solidFill>
                  <a:srgbClr val="F5F5F5"/>
                </a:solidFill>
              </a:defRPr>
            </a:pPr>
            <a:r>
              <a:t>Multiple apps, no single</a:t>
            </a:r>
            <a:br/>
            <a:r>
              <a:t>source of truth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846320" y="1188720"/>
            <a:ext cx="3840480" cy="5029200"/>
          </a:xfrm>
          <a:prstGeom prst="roundRect">
            <a:avLst/>
          </a:prstGeom>
          <a:solidFill>
            <a:srgbClr val="2A2A2A"/>
          </a:solidFill>
          <a:ln w="2540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0" y="1371600"/>
            <a:ext cx="347472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 b="1">
                <a:solidFill>
                  <a:srgbClr val="F5F5F5"/>
                </a:solidFill>
              </a:defRPr>
            </a:pPr>
            <a:r>
              <a:t>Our Solution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400">
                <a:solidFill>
                  <a:srgbClr val="F5F5F5"/>
                </a:solidFill>
              </a:defRPr>
            </a:pPr>
            <a:r>
              <a:t>Centralized habit</a:t>
            </a:r>
            <a:br/>
            <a:r>
              <a:t>tracking API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400">
                <a:solidFill>
                  <a:srgbClr val="F5F5F5"/>
                </a:solidFill>
              </a:defRPr>
            </a:pPr>
            <a:r>
              <a:t>Automatic streak</a:t>
            </a:r>
            <a:br/>
            <a:r>
              <a:t>detection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400">
                <a:solidFill>
                  <a:srgbClr val="F5F5F5"/>
                </a:solidFill>
              </a:defRPr>
            </a:pPr>
            <a:r>
              <a:t>Simple, friction-free</a:t>
            </a:r>
            <a:br/>
            <a:r>
              <a:t>dashboard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4400" b="1">
                <a:solidFill>
                  <a:srgbClr val="F5F5F5"/>
                </a:solidFill>
              </a:defRPr>
            </a:pPr>
            <a:r>
              <a:t>How It Works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188720"/>
            <a:ext cx="2560320" cy="4846320"/>
          </a:xfrm>
          <a:prstGeom prst="roundRect">
            <a:avLst/>
          </a:prstGeom>
          <a:solidFill>
            <a:srgbClr val="2A2A2A"/>
          </a:solidFill>
          <a:ln w="1270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2286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600" b="1">
                <a:solidFill>
                  <a:srgbClr val="06B6D4"/>
                </a:solidFill>
              </a:defRPr>
            </a:pPr>
            <a:r>
              <a:t>FastAPI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200">
                <a:solidFill>
                  <a:srgbClr val="F5F5F5"/>
                </a:solidFill>
              </a:defRPr>
            </a:pPr>
            <a:r>
              <a:t>12 RESTful endpoints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200">
                <a:solidFill>
                  <a:srgbClr val="F5F5F5"/>
                </a:solidFill>
              </a:defRPr>
            </a:pPr>
            <a:r>
              <a:t>OpenAPI/Swagger docs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200">
                <a:solidFill>
                  <a:srgbClr val="F5F5F5"/>
                </a:solidFill>
              </a:defRPr>
            </a:pPr>
            <a:r>
              <a:t>X-API-Key auth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291840" y="1188720"/>
            <a:ext cx="2560320" cy="4846320"/>
          </a:xfrm>
          <a:prstGeom prst="roundRect">
            <a:avLst/>
          </a:prstGeom>
          <a:solidFill>
            <a:srgbClr val="2A2A2A"/>
          </a:solidFill>
          <a:ln w="1270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429000" y="1371600"/>
            <a:ext cx="2286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600" b="1">
                <a:solidFill>
                  <a:srgbClr val="06B6D4"/>
                </a:solidFill>
              </a:defRPr>
            </a:pPr>
            <a:r>
              <a:t>Database &amp; ORM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200">
                <a:solidFill>
                  <a:srgbClr val="F5F5F5"/>
                </a:solidFill>
              </a:defRPr>
            </a:pPr>
            <a:r>
              <a:t>SQLAlchemy models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200">
                <a:solidFill>
                  <a:srgbClr val="F5F5F5"/>
                </a:solidFill>
              </a:defRPr>
            </a:pPr>
            <a:r>
              <a:t>SQLite locally; database</a:t>
            </a:r>
            <a:br/>
            <a:r>
              <a:t>configured via env vars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200">
                <a:solidFill>
                  <a:srgbClr val="F5F5F5"/>
                </a:solidFill>
              </a:defRPr>
            </a:pPr>
            <a:r>
              <a:t>Alembic migrations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26480" y="1188720"/>
            <a:ext cx="2560320" cy="4846320"/>
          </a:xfrm>
          <a:prstGeom prst="roundRect">
            <a:avLst/>
          </a:prstGeom>
          <a:solidFill>
            <a:srgbClr val="2A2A2A"/>
          </a:solidFill>
          <a:ln w="1270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63640" y="1371600"/>
            <a:ext cx="2286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600" b="1">
                <a:solidFill>
                  <a:srgbClr val="06B6D4"/>
                </a:solidFill>
              </a:defRPr>
            </a:pPr>
            <a:r>
              <a:t>Minimal Web UI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200">
                <a:solidFill>
                  <a:srgbClr val="F5F5F5"/>
                </a:solidFill>
              </a:defRPr>
            </a:pPr>
            <a:r>
              <a:t>Vanilla HTML/CSS/JS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200">
                <a:solidFill>
                  <a:srgbClr val="F5F5F5"/>
                </a:solidFill>
              </a:defRPr>
            </a:pPr>
            <a:r>
              <a:t>Dashboard at /ui/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200">
                <a:solidFill>
                  <a:srgbClr val="F5F5F5"/>
                </a:solidFill>
              </a:defRPr>
            </a:pPr>
            <a:r>
              <a:t>Zero frameworks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4400" b="1">
                <a:solidFill>
                  <a:srgbClr val="F5F5F5"/>
                </a:solidFill>
              </a:defRPr>
            </a:pPr>
            <a:r>
              <a:t>What You Can Do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280160"/>
            <a:ext cx="3840480" cy="2286000"/>
          </a:xfrm>
          <a:prstGeom prst="roundRect">
            <a:avLst/>
          </a:prstGeom>
          <a:solidFill>
            <a:srgbClr val="2A2A2A"/>
          </a:solidFill>
          <a:ln w="1270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417320"/>
            <a:ext cx="35661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06B6D4"/>
                </a:solidFill>
              </a:defRPr>
            </a:pPr>
            <a:r>
              <a:t>Habit Management</a:t>
            </a:r>
          </a:p>
          <a:p>
            <a:pPr>
              <a:spcBef>
                <a:spcPts val="300"/>
              </a:spcBef>
              <a:spcAft>
                <a:spcPts val="300"/>
              </a:spcAft>
              <a:defRPr sz="1100">
                <a:solidFill>
                  <a:srgbClr val="F5F5F5"/>
                </a:solidFill>
              </a:defRPr>
            </a:pPr>
            <a:r>
              <a:t>Create, update, delete</a:t>
            </a:r>
          </a:p>
          <a:p>
            <a:pPr>
              <a:spcBef>
                <a:spcPts val="300"/>
              </a:spcBef>
              <a:spcAft>
                <a:spcPts val="300"/>
              </a:spcAft>
              <a:defRPr sz="1100">
                <a:solidFill>
                  <a:srgbClr val="F5F5F5"/>
                </a:solidFill>
              </a:defRPr>
            </a:pPr>
            <a:r>
              <a:t>Smart filtering</a:t>
            </a:r>
          </a:p>
          <a:p>
            <a:pPr>
              <a:spcBef>
                <a:spcPts val="300"/>
              </a:spcBef>
              <a:spcAft>
                <a:spcPts val="300"/>
              </a:spcAft>
              <a:defRPr sz="1100">
                <a:solidFill>
                  <a:srgbClr val="F5F5F5"/>
                </a:solidFill>
              </a:defRPr>
            </a:pPr>
            <a:r>
              <a:t>Pagination support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0" y="1280160"/>
            <a:ext cx="3840480" cy="2286000"/>
          </a:xfrm>
          <a:prstGeom prst="roundRect">
            <a:avLst/>
          </a:prstGeom>
          <a:solidFill>
            <a:srgbClr val="262626"/>
          </a:solidFill>
          <a:ln w="1270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709160" y="1417320"/>
            <a:ext cx="35661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06B6D4"/>
                </a:solidFill>
              </a:defRPr>
            </a:pPr>
            <a:r>
              <a:t>Completion Logging</a:t>
            </a:r>
          </a:p>
          <a:p>
            <a:pPr>
              <a:spcBef>
                <a:spcPts val="300"/>
              </a:spcBef>
              <a:spcAft>
                <a:spcPts val="300"/>
              </a:spcAft>
              <a:defRPr sz="1100">
                <a:solidFill>
                  <a:srgbClr val="F5F5F5"/>
                </a:solidFill>
              </a:defRPr>
            </a:pPr>
            <a:r>
              <a:t>Mark habits as done</a:t>
            </a:r>
          </a:p>
          <a:p>
            <a:pPr>
              <a:spcBef>
                <a:spcPts val="300"/>
              </a:spcBef>
              <a:spcAft>
                <a:spcPts val="300"/>
              </a:spcAft>
              <a:defRPr sz="1100">
                <a:solidFill>
                  <a:srgbClr val="F5F5F5"/>
                </a:solidFill>
              </a:defRPr>
            </a:pPr>
            <a:r>
              <a:t>One log per date</a:t>
            </a:r>
          </a:p>
          <a:p>
            <a:pPr>
              <a:spcBef>
                <a:spcPts val="300"/>
              </a:spcBef>
              <a:spcAft>
                <a:spcPts val="300"/>
              </a:spcAft>
              <a:defRPr sz="1100">
                <a:solidFill>
                  <a:srgbClr val="F5F5F5"/>
                </a:solidFill>
              </a:defRPr>
            </a:pPr>
            <a:r>
              <a:t>Auto-dedup (409)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3749040"/>
            <a:ext cx="3840480" cy="2286000"/>
          </a:xfrm>
          <a:prstGeom prst="roundRect">
            <a:avLst/>
          </a:prstGeom>
          <a:solidFill>
            <a:srgbClr val="2A2A2A"/>
          </a:solidFill>
          <a:ln w="1270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3886200"/>
            <a:ext cx="35661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06B6D4"/>
                </a:solidFill>
              </a:defRPr>
            </a:pPr>
            <a:r>
              <a:t>Streak Analytics</a:t>
            </a:r>
          </a:p>
          <a:p>
            <a:pPr>
              <a:spcBef>
                <a:spcPts val="300"/>
              </a:spcBef>
              <a:spcAft>
                <a:spcPts val="300"/>
              </a:spcAft>
              <a:defRPr sz="1100">
                <a:solidFill>
                  <a:srgbClr val="F5F5F5"/>
                </a:solidFill>
              </a:defRPr>
            </a:pPr>
            <a:r>
              <a:t>Current streak</a:t>
            </a:r>
          </a:p>
          <a:p>
            <a:pPr>
              <a:spcBef>
                <a:spcPts val="300"/>
              </a:spcBef>
              <a:spcAft>
                <a:spcPts val="300"/>
              </a:spcAft>
              <a:defRPr sz="1100">
                <a:solidFill>
                  <a:srgbClr val="F5F5F5"/>
                </a:solidFill>
              </a:defRPr>
            </a:pPr>
            <a:r>
              <a:t>Longest streak</a:t>
            </a:r>
          </a:p>
          <a:p>
            <a:pPr>
              <a:spcBef>
                <a:spcPts val="300"/>
              </a:spcBef>
              <a:spcAft>
                <a:spcPts val="300"/>
              </a:spcAft>
              <a:defRPr sz="1100">
                <a:solidFill>
                  <a:srgbClr val="F5F5F5"/>
                </a:solidFill>
              </a:defRPr>
            </a:pPr>
            <a:r>
              <a:t>Total completions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0" y="3749040"/>
            <a:ext cx="3840480" cy="2286000"/>
          </a:xfrm>
          <a:prstGeom prst="roundRect">
            <a:avLst/>
          </a:prstGeom>
          <a:solidFill>
            <a:srgbClr val="262626"/>
          </a:solidFill>
          <a:ln w="1270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09160" y="3886200"/>
            <a:ext cx="35661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06B6D4"/>
                </a:solidFill>
              </a:defRPr>
            </a:pPr>
            <a:r>
              <a:t>Weekly Insights</a:t>
            </a:r>
          </a:p>
          <a:p>
            <a:pPr>
              <a:spcBef>
                <a:spcPts val="300"/>
              </a:spcBef>
              <a:spcAft>
                <a:spcPts val="300"/>
              </a:spcAft>
              <a:defRPr sz="1100">
                <a:solidFill>
                  <a:srgbClr val="F5F5F5"/>
                </a:solidFill>
              </a:defRPr>
            </a:pPr>
            <a:r>
              <a:t>Completion by week</a:t>
            </a:r>
          </a:p>
          <a:p>
            <a:pPr>
              <a:spcBef>
                <a:spcPts val="300"/>
              </a:spcBef>
              <a:spcAft>
                <a:spcPts val="300"/>
              </a:spcAft>
              <a:defRPr sz="1100">
                <a:solidFill>
                  <a:srgbClr val="F5F5F5"/>
                </a:solidFill>
              </a:defRPr>
            </a:pPr>
            <a:r>
              <a:t>Year-week filtering</a:t>
            </a:r>
          </a:p>
          <a:p>
            <a:pPr>
              <a:spcBef>
                <a:spcPts val="300"/>
              </a:spcBef>
              <a:spcAft>
                <a:spcPts val="300"/>
              </a:spcAft>
              <a:defRPr sz="1100">
                <a:solidFill>
                  <a:srgbClr val="F5F5F5"/>
                </a:solidFill>
              </a:defRPr>
            </a:pPr>
            <a:r>
              <a:t>Cross-habit summary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4400" b="1">
                <a:solidFill>
                  <a:srgbClr val="F5F5F5"/>
                </a:solidFill>
              </a:defRPr>
            </a:pPr>
            <a:r>
              <a:t>Production Ready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188720"/>
            <a:ext cx="8229600" cy="4754880"/>
          </a:xfrm>
          <a:prstGeom prst="roundRect">
            <a:avLst/>
          </a:prstGeom>
          <a:solidFill>
            <a:srgbClr val="2A2A2A"/>
          </a:solidFill>
          <a:ln w="2540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78638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06B6D4"/>
                </a:solidFill>
              </a:defRPr>
            </a:pPr>
            <a:r>
              <a:t>Live Instance (Render)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03120"/>
            <a:ext cx="78638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5F5F5"/>
                </a:solidFill>
              </a:defRPr>
            </a:pPr>
            <a:r>
              <a:t>🔗  https://comp3011-cw1-habit-api.onrender.com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651760"/>
            <a:ext cx="78638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6B6D4"/>
                </a:solidFill>
              </a:defRPr>
            </a:pPr>
            <a:r>
              <a:t>API Endpoints: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926080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BFBFBF"/>
                </a:solidFill>
                <a:latin typeface="Courier New"/>
              </a:defRPr>
            </a:pPr>
            <a:r>
              <a:t>POST    /api/habits              Create habit</a:t>
            </a:r>
          </a:p>
          <a:p>
            <a:pPr>
              <a:spcBef>
                <a:spcPts val="200"/>
              </a:spcBef>
              <a:defRPr sz="900">
                <a:solidFill>
                  <a:srgbClr val="BFBFBF"/>
                </a:solidFill>
                <a:latin typeface="Courier New"/>
              </a:defRPr>
            </a:pPr>
            <a:r>
              <a:t>GET     /api/habits              List habits</a:t>
            </a:r>
          </a:p>
          <a:p>
            <a:pPr>
              <a:spcBef>
                <a:spcPts val="200"/>
              </a:spcBef>
              <a:defRPr sz="900">
                <a:solidFill>
                  <a:srgbClr val="BFBFBF"/>
                </a:solidFill>
                <a:latin typeface="Courier New"/>
              </a:defRPr>
            </a:pPr>
            <a:r>
              <a:t>PUT     /api/habits/{id}         Update habit</a:t>
            </a:r>
          </a:p>
          <a:p>
            <a:pPr>
              <a:spcBef>
                <a:spcPts val="200"/>
              </a:spcBef>
              <a:defRPr sz="900">
                <a:solidFill>
                  <a:srgbClr val="BFBFBF"/>
                </a:solidFill>
                <a:latin typeface="Courier New"/>
              </a:defRPr>
            </a:pPr>
            <a:r>
              <a:t>DELETE  /api/habits/{id}         Delete habit</a:t>
            </a:r>
          </a:p>
          <a:p>
            <a:pPr>
              <a:spcBef>
                <a:spcPts val="200"/>
              </a:spcBef>
              <a:defRPr sz="900">
                <a:solidFill>
                  <a:srgbClr val="BFBFBF"/>
                </a:solidFill>
                <a:latin typeface="Courier New"/>
              </a:defRPr>
            </a:pPr>
            <a:r>
              <a:t>POST    /api/habits/{id}/logs    Log completion</a:t>
            </a:r>
          </a:p>
          <a:p>
            <a:pPr>
              <a:spcBef>
                <a:spcPts val="200"/>
              </a:spcBef>
              <a:defRPr sz="900">
                <a:solidFill>
                  <a:srgbClr val="BFBFBF"/>
                </a:solidFill>
                <a:latin typeface="Courier New"/>
              </a:defRPr>
            </a:pPr>
            <a:r>
              <a:t>GET     /api/habits/{id}/logs    View logs</a:t>
            </a:r>
          </a:p>
          <a:p>
            <a:pPr>
              <a:spcBef>
                <a:spcPts val="200"/>
              </a:spcBef>
              <a:defRPr sz="900">
                <a:solidFill>
                  <a:srgbClr val="BFBFBF"/>
                </a:solidFill>
                <a:latin typeface="Courier New"/>
              </a:defRPr>
            </a:pPr>
            <a:r>
              <a:t>GET     /api/habits/{id}/streak  Get streaks</a:t>
            </a:r>
          </a:p>
          <a:p>
            <a:pPr>
              <a:spcBef>
                <a:spcPts val="200"/>
              </a:spcBef>
              <a:defRPr sz="900">
                <a:solidFill>
                  <a:srgbClr val="BFBFBF"/>
                </a:solidFill>
                <a:latin typeface="Courier New"/>
              </a:defRPr>
            </a:pPr>
            <a:r>
              <a:t>GET     /api/analytics/weekly-summary    Weekly stats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663440"/>
            <a:ext cx="78638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BFBFBF"/>
                </a:solidFill>
              </a:defRPr>
            </a:pPr>
            <a:r>
              <a:t>Access Points:   /docs (Swagger)  |  /ui/ (Dashboard)  |  /health (Status)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5120640"/>
            <a:ext cx="2286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10B981"/>
                </a:solidFill>
              </a:defRPr>
            </a:pPr>
            <a:r>
              <a:t>✅ Deployed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0" y="5120640"/>
            <a:ext cx="2286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10B981"/>
                </a:solidFill>
              </a:defRPr>
            </a:pPr>
            <a:r>
              <a:t>✅ Live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5120640"/>
            <a:ext cx="2286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10B981"/>
                </a:solidFill>
              </a:defRPr>
            </a:pPr>
            <a:r>
              <a:t>✅ Documented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4400" b="1">
                <a:solidFill>
                  <a:srgbClr val="F5F5F5"/>
                </a:solidFill>
              </a:defRPr>
            </a:pPr>
            <a:r>
              <a:t>Built to Last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188720"/>
            <a:ext cx="3840480" cy="2194560"/>
          </a:xfrm>
          <a:prstGeom prst="roundRect">
            <a:avLst/>
          </a:prstGeom>
          <a:solidFill>
            <a:srgbClr val="2A2A2A"/>
          </a:solidFill>
          <a:ln w="1270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25880"/>
            <a:ext cx="3566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10B981"/>
                </a:solidFill>
              </a:defRPr>
            </a:pPr>
            <a:r>
              <a:t>✅ Testing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645920"/>
            <a:ext cx="35661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0B981"/>
                </a:solidFill>
              </a:defRPr>
            </a:pPr>
            <a:r>
              <a:t>14/14 tests passing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057400"/>
            <a:ext cx="356616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F5F5F5"/>
                </a:solidFill>
              </a:defRPr>
            </a:pPr>
            <a:r>
              <a:t>All passing</a:t>
            </a:r>
          </a:p>
          <a:p>
            <a:pPr>
              <a:spcBef>
                <a:spcPts val="200"/>
              </a:spcBef>
              <a:defRPr sz="1000">
                <a:solidFill>
                  <a:srgbClr val="F5F5F5"/>
                </a:solidFill>
              </a:defRPr>
            </a:pPr>
            <a:r>
              <a:t>Unit tests</a:t>
            </a:r>
          </a:p>
          <a:p>
            <a:pPr>
              <a:spcBef>
                <a:spcPts val="200"/>
              </a:spcBef>
              <a:defRPr sz="1000">
                <a:solidFill>
                  <a:srgbClr val="F5F5F5"/>
                </a:solidFill>
              </a:defRPr>
            </a:pPr>
            <a:r>
              <a:t>Auth validation</a:t>
            </a:r>
          </a:p>
          <a:p>
            <a:pPr>
              <a:spcBef>
                <a:spcPts val="200"/>
              </a:spcBef>
              <a:defRPr sz="1000">
                <a:solidFill>
                  <a:srgbClr val="F5F5F5"/>
                </a:solidFill>
              </a:defRPr>
            </a:pPr>
            <a:r>
              <a:t>Analytics accuracy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46320" y="1188720"/>
            <a:ext cx="3840480" cy="2194560"/>
          </a:xfrm>
          <a:prstGeom prst="roundRect">
            <a:avLst/>
          </a:prstGeom>
          <a:solidFill>
            <a:srgbClr val="2A2A2A"/>
          </a:solidFill>
          <a:ln w="1270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983480" y="1325880"/>
            <a:ext cx="3566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10B981"/>
                </a:solidFill>
              </a:defRPr>
            </a:pPr>
            <a:r>
              <a:t>✅ Deployment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83480" y="1645920"/>
            <a:ext cx="35661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0B981"/>
                </a:solidFill>
              </a:defRPr>
            </a:pPr>
            <a:r>
              <a:t>Render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83480" y="2057400"/>
            <a:ext cx="356616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F5F5F5"/>
                </a:solidFill>
              </a:defRPr>
            </a:pPr>
            <a:r>
              <a:t>Live platform</a:t>
            </a:r>
          </a:p>
          <a:p>
            <a:pPr>
              <a:spcBef>
                <a:spcPts val="200"/>
              </a:spcBef>
              <a:defRPr sz="1000">
                <a:solidFill>
                  <a:srgbClr val="F5F5F5"/>
                </a:solidFill>
              </a:defRPr>
            </a:pPr>
            <a:r>
              <a:t>Auto-deploy from main</a:t>
            </a:r>
          </a:p>
          <a:p>
            <a:pPr>
              <a:spcBef>
                <a:spcPts val="200"/>
              </a:spcBef>
              <a:defRPr sz="1000">
                <a:solidFill>
                  <a:srgbClr val="F5F5F5"/>
                </a:solidFill>
              </a:defRPr>
            </a:pPr>
            <a:r>
              <a:t>Persisted database</a:t>
            </a:r>
          </a:p>
          <a:p>
            <a:pPr>
              <a:spcBef>
                <a:spcPts val="200"/>
              </a:spcBef>
              <a:defRPr sz="1000">
                <a:solidFill>
                  <a:srgbClr val="F5F5F5"/>
                </a:solidFill>
              </a:defRPr>
            </a:pPr>
            <a:r>
              <a:t>Health check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566160"/>
            <a:ext cx="8229600" cy="2286000"/>
          </a:xfrm>
          <a:prstGeom prst="roundRect">
            <a:avLst/>
          </a:prstGeom>
          <a:solidFill>
            <a:srgbClr val="2A2A2A"/>
          </a:solidFill>
          <a:ln w="1270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3703320"/>
            <a:ext cx="78638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06B6D4"/>
                </a:solidFill>
              </a:defRPr>
            </a:pPr>
            <a:r>
              <a:t>Code Quality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023360"/>
            <a:ext cx="78638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F5F5F5"/>
                </a:solidFill>
              </a:defRPr>
            </a:pPr>
            <a:r>
              <a:t>Comprehensive docstrings</a:t>
            </a:r>
          </a:p>
          <a:p>
            <a:pPr>
              <a:spcBef>
                <a:spcPts val="400"/>
              </a:spcBef>
              <a:defRPr sz="1100">
                <a:solidFill>
                  <a:srgbClr val="F5F5F5"/>
                </a:solidFill>
              </a:defRPr>
            </a:pPr>
            <a:r>
              <a:t>Structured error handling</a:t>
            </a:r>
          </a:p>
          <a:p>
            <a:pPr>
              <a:spcBef>
                <a:spcPts val="400"/>
              </a:spcBef>
              <a:defRPr sz="1100">
                <a:solidFill>
                  <a:srgbClr val="F5F5F5"/>
                </a:solidFill>
              </a:defRPr>
            </a:pPr>
            <a:r>
              <a:t>Conventional commits (49 total)</a:t>
            </a:r>
          </a:p>
          <a:p>
            <a:pPr>
              <a:spcBef>
                <a:spcPts val="400"/>
              </a:spcBef>
              <a:defRPr sz="1100">
                <a:solidFill>
                  <a:srgbClr val="F5F5F5"/>
                </a:solidFill>
              </a:defRPr>
            </a:pPr>
            <a:r>
              <a:t>Tracked database migrations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4400" b="1">
                <a:solidFill>
                  <a:srgbClr val="F5F5F5"/>
                </a:solidFill>
              </a:defRPr>
            </a:pPr>
            <a:r>
              <a:t>Development Process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371600"/>
            <a:ext cx="1280160" cy="1645920"/>
          </a:xfrm>
          <a:prstGeom prst="roundRect">
            <a:avLst/>
          </a:prstGeom>
          <a:solidFill>
            <a:srgbClr val="069696"/>
          </a:solidFill>
          <a:ln w="1270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17320"/>
            <a:ext cx="365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5F5F5"/>
                </a:solidFill>
              </a:defRPr>
            </a:pPr>
            <a: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F5F5F5"/>
                </a:solidFill>
              </a:defRPr>
            </a:pPr>
            <a:r>
              <a:t>Setup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148840"/>
            <a:ext cx="10972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5F5F5"/>
                </a:solidFill>
              </a:defRPr>
            </a:pPr>
            <a:r>
              <a:t>SQLAlchemy</a:t>
            </a:r>
            <a:br/>
            <a:r>
              <a:t>Alembic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828800" y="1371600"/>
            <a:ext cx="1280160" cy="1645920"/>
          </a:xfrm>
          <a:prstGeom prst="roundRect">
            <a:avLst/>
          </a:prstGeom>
          <a:solidFill>
            <a:srgbClr val="06A5A5"/>
          </a:solidFill>
          <a:ln w="1270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4520" y="1417320"/>
            <a:ext cx="365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5F5F5"/>
                </a:solidFill>
              </a:defRPr>
            </a:pPr>
            <a: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20240" y="182880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F5F5F5"/>
                </a:solidFill>
              </a:defRPr>
            </a:pPr>
            <a:r>
              <a:t>Auth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48840"/>
            <a:ext cx="10972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5F5F5"/>
                </a:solidFill>
              </a:defRPr>
            </a:pPr>
            <a:r>
              <a:t>X-API-Key</a:t>
            </a:r>
            <a:br/>
            <a:r>
              <a:t>Security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00400" y="1371600"/>
            <a:ext cx="1280160" cy="1645920"/>
          </a:xfrm>
          <a:prstGeom prst="roundRect">
            <a:avLst/>
          </a:prstGeom>
          <a:solidFill>
            <a:srgbClr val="06B4B4"/>
          </a:solidFill>
          <a:ln w="1270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46120" y="1417320"/>
            <a:ext cx="365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5F5F5"/>
                </a:solidFill>
              </a:defRPr>
            </a:pPr>
            <a: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91840" y="182880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F5F5F5"/>
                </a:solidFill>
              </a:defRPr>
            </a:pPr>
            <a:r>
              <a:t>API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91840" y="2148840"/>
            <a:ext cx="10972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5F5F5"/>
                </a:solidFill>
              </a:defRPr>
            </a:pPr>
            <a:r>
              <a:t>12 Routes</a:t>
            </a:r>
            <a:br/>
            <a:r>
              <a:t>+ Docs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657600"/>
            <a:ext cx="1280160" cy="1645920"/>
          </a:xfrm>
          <a:prstGeom prst="roundRect">
            <a:avLst/>
          </a:prstGeom>
          <a:solidFill>
            <a:srgbClr val="06C3C3"/>
          </a:solidFill>
          <a:ln w="1270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" y="3703320"/>
            <a:ext cx="365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5F5F5"/>
                </a:solidFill>
              </a:defRPr>
            </a:pPr>
            <a: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411480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F5F5F5"/>
                </a:solidFill>
              </a:defRPr>
            </a:pPr>
            <a:r>
              <a:t>Tests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434840"/>
            <a:ext cx="10972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5F5F5"/>
                </a:solidFill>
              </a:defRPr>
            </a:pPr>
            <a:r>
              <a:t>14 Tests</a:t>
            </a:r>
            <a:br/>
            <a:r>
              <a:t>All Pass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828800" y="3657600"/>
            <a:ext cx="1280160" cy="1645920"/>
          </a:xfrm>
          <a:prstGeom prst="roundRect">
            <a:avLst/>
          </a:prstGeom>
          <a:solidFill>
            <a:srgbClr val="06D2D2"/>
          </a:solidFill>
          <a:ln w="1270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874520" y="3703320"/>
            <a:ext cx="365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5F5F5"/>
                </a:solidFill>
              </a:defRPr>
            </a:pPr>
            <a:r>
              <a:t>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920240" y="411480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F5F5F5"/>
                </a:solidFill>
              </a:defRPr>
            </a:pPr>
            <a:r>
              <a:t>Frontend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20240" y="4434840"/>
            <a:ext cx="10972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5F5F5"/>
                </a:solidFill>
              </a:defRPr>
            </a:pPr>
            <a:r>
              <a:t>HTML/CSS/JS</a:t>
            </a:r>
            <a:br/>
            <a:r>
              <a:t>No Frames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200400" y="3657600"/>
            <a:ext cx="1280160" cy="1645920"/>
          </a:xfrm>
          <a:prstGeom prst="roundRect">
            <a:avLst/>
          </a:prstGeom>
          <a:solidFill>
            <a:srgbClr val="06D4D4"/>
          </a:solidFill>
          <a:ln w="1270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246120" y="3703320"/>
            <a:ext cx="365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5F5F5"/>
                </a:solidFill>
              </a:defRPr>
            </a:pPr>
            <a: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291840" y="411480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F5F5F5"/>
                </a:solidFill>
              </a:defRPr>
            </a:pPr>
            <a:r>
              <a:t>Deploy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91840" y="4434840"/>
            <a:ext cx="10972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5F5F5"/>
                </a:solidFill>
              </a:defRPr>
            </a:pPr>
            <a:r>
              <a:t>Render</a:t>
            </a:r>
            <a:br/>
            <a:r>
              <a:t>Live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5303520"/>
            <a:ext cx="8229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800" b="1">
                <a:solidFill>
                  <a:srgbClr val="06B6D4"/>
                </a:solidFill>
              </a:defRPr>
            </a:pPr>
            <a:r>
              <a:t>49 Conventional Commits</a:t>
            </a:r>
          </a:p>
          <a:p>
            <a:pPr>
              <a:defRPr sz="1200">
                <a:solidFill>
                  <a:srgbClr val="BFBFBF"/>
                </a:solidFill>
              </a:defRPr>
            </a:pPr>
            <a:r>
              <a:t>Genesis → Latest  |  Clean history, proper versioning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37160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400" b="1">
                <a:solidFill>
                  <a:srgbClr val="F5F5F5"/>
                </a:solidFill>
              </a:defRPr>
            </a:pPr>
            <a:r>
              <a:t>Deliverables &amp; Resources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017520"/>
            <a:ext cx="6400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1800">
                <a:solidFill>
                  <a:srgbClr val="BFBFBF"/>
                </a:solidFill>
              </a:defRPr>
            </a:pPr>
            <a:r>
              <a:t>•  Technical Report (PDF)</a:t>
            </a:r>
          </a:p>
          <a:p>
            <a:pPr algn="l">
              <a:spcBef>
                <a:spcPts val="600"/>
              </a:spcBef>
              <a:spcAft>
                <a:spcPts val="600"/>
              </a:spcAft>
            </a:pPr>
            <a:r>
              <a:t>•  API Documentation (PDF)</a:t>
            </a:r>
          </a:p>
          <a:p>
            <a:pPr algn="l">
              <a:spcBef>
                <a:spcPts val="600"/>
              </a:spcBef>
              <a:spcAft>
                <a:spcPts val="600"/>
              </a:spcAft>
            </a:pPr>
            <a:r>
              <a:t>•  Presentation Slides (PPTX)</a:t>
            </a:r>
          </a:p>
          <a:p>
            <a:pPr algn="l">
              <a:spcBef>
                <a:spcPts val="600"/>
              </a:spcBef>
              <a:spcAft>
                <a:spcPts val="600"/>
              </a:spcAft>
            </a:pPr>
            <a:r>
              <a:t>•  Public GitHub Repository</a:t>
            </a:r>
          </a:p>
          <a:p>
            <a:pPr algn="l">
              <a:spcBef>
                <a:spcPts val="600"/>
              </a:spcBef>
              <a:spcAft>
                <a:spcPts val="0"/>
              </a:spcAft>
            </a:pPr>
            <a:r>
              <a:t>•  Live Render Deployment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