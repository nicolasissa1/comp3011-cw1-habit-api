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5F5F5"/>
                </a:solidFill>
              </a:defRPr>
            </a:pPr>
            <a:r>
              <a:t>COMP3011:</a:t>
            </a:r>
            <a:br/>
            <a:r>
              <a:t>Habit &amp; Productivity Analytics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FBFBF"/>
                </a:solidFill>
              </a:defRPr>
            </a:pPr>
            <a:r>
              <a:t>Building a modern data-driven system for habit tracking and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4754880"/>
            <a:ext cx="3657600" cy="13716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5F5F5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840480" cy="5029200"/>
          </a:xfrm>
          <a:prstGeom prst="roundRect">
            <a:avLst/>
          </a:prstGeom>
          <a:solidFill>
            <a:srgbClr val="2A2A2A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F5F5"/>
                </a:solidFill>
              </a:defRPr>
            </a:pPr>
            <a:r>
              <a:t>The Challenge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5F5F5"/>
                </a:solidFill>
              </a:defRPr>
            </a:pPr>
            <a:r>
              <a:t>Humans are inconsistent</a:t>
            </a:r>
            <a:br/>
            <a:r>
              <a:t>with habits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5F5F5"/>
                </a:solidFill>
              </a:defRPr>
            </a:pPr>
            <a:r>
              <a:t>No visibility into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5F5F5"/>
                </a:solidFill>
              </a:defRPr>
            </a:pPr>
            <a:r>
              <a:t>Multiple apps, no single</a:t>
            </a:r>
            <a:br/>
            <a:r>
              <a:t>source of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188720"/>
            <a:ext cx="3840480" cy="5029200"/>
          </a:xfrm>
          <a:prstGeom prst="roundRect">
            <a:avLst/>
          </a:prstGeom>
          <a:solidFill>
            <a:srgbClr val="2A2A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F5F5"/>
                </a:solidFill>
              </a:defRPr>
            </a:pPr>
            <a:r>
              <a:t>Our Solution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5F5F5"/>
                </a:solidFill>
              </a:defRPr>
            </a:pPr>
            <a:r>
              <a:t>Centralized habit</a:t>
            </a:r>
            <a:br/>
            <a:r>
              <a:t>tracking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5F5F5"/>
                </a:solidFill>
              </a:defRPr>
            </a:pPr>
            <a:r>
              <a:t>Automatic streak</a:t>
            </a:r>
            <a:br/>
            <a:r>
              <a:t>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5F5F5"/>
                </a:solidFill>
              </a:defRPr>
            </a:pPr>
            <a:r>
              <a:t>Simple, friction-free</a:t>
            </a:r>
            <a:br/>
            <a:r>
              <a:t>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5F5F5"/>
                </a:solidFill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60320" cy="484632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2286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FastAPI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12 RESTful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OpenAPI/Swagger docs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X-API-Key auth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188720"/>
            <a:ext cx="2560320" cy="484632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0" y="1371600"/>
            <a:ext cx="2286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Database &amp; 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SQLAlchemy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SQLite locally; database</a:t>
            </a:r>
            <a:br/>
            <a:r>
              <a:t>configured via env vars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Alembic migrations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2560320" cy="484632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371600"/>
            <a:ext cx="2286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Minimal Web 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Vanilla HTML/CSS/JS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Dashboard at /ui/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5F5F5"/>
                </a:solidFill>
              </a:defRPr>
            </a:pPr>
            <a:r>
              <a:t>Zero frameworks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5F5F5"/>
                </a:solidFill>
              </a:defRPr>
            </a:pPr>
            <a:r>
              <a:t>What You Can 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840480" cy="2286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Habit Management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Create, update, delete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Smart filtering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Pagination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280160"/>
            <a:ext cx="3840480" cy="22860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41732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Completion Logging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Mark habits as done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One log per date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Auto-dedup (409)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40"/>
            <a:ext cx="3840480" cy="2286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Streak Analytics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Current streak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Longest streak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Total completions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749040"/>
            <a:ext cx="3840480" cy="22860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8862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Weekly Insights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Completion by week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Year-week filtering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F5F5F5"/>
                </a:solidFill>
              </a:defRPr>
            </a:pPr>
            <a:r>
              <a:t>Cross-habit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5F5F5"/>
                </a:solidFill>
              </a:defRPr>
            </a:pPr>
            <a:r>
              <a:t>Production Ready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4754880"/>
          </a:xfrm>
          <a:prstGeom prst="roundRect">
            <a:avLst/>
          </a:prstGeom>
          <a:solidFill>
            <a:srgbClr val="2A2A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Live Instance (Render)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🔗  https://comp3011-cw1-habit-api.onrender.com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API Endpoints: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FBFBF"/>
                </a:solidFill>
                <a:latin typeface="Courier New"/>
              </a:defRPr>
            </a:pPr>
            <a:r>
              <a:t>POST    /api/habits              Create habit</a:t>
            </a:r>
          </a:p>
          <a:p>
            <a:pPr>
              <a:spcBef>
                <a:spcPts val="200"/>
              </a:spcBef>
              <a:defRPr sz="900">
                <a:solidFill>
                  <a:srgbClr val="BFBFBF"/>
                </a:solidFill>
                <a:latin typeface="Courier New"/>
              </a:defRPr>
            </a:pPr>
            <a:r>
              <a:t>GET     /api/habits              List habits</a:t>
            </a:r>
          </a:p>
          <a:p>
            <a:pPr>
              <a:spcBef>
                <a:spcPts val="200"/>
              </a:spcBef>
              <a:defRPr sz="900">
                <a:solidFill>
                  <a:srgbClr val="BFBFBF"/>
                </a:solidFill>
                <a:latin typeface="Courier New"/>
              </a:defRPr>
            </a:pPr>
            <a:r>
              <a:t>PUT     /api/habits/{id}         Update habit</a:t>
            </a:r>
          </a:p>
          <a:p>
            <a:pPr>
              <a:spcBef>
                <a:spcPts val="200"/>
              </a:spcBef>
              <a:defRPr sz="900">
                <a:solidFill>
                  <a:srgbClr val="BFBFBF"/>
                </a:solidFill>
                <a:latin typeface="Courier New"/>
              </a:defRPr>
            </a:pPr>
            <a:r>
              <a:t>DELETE  /api/habits/{id}         Delete habit</a:t>
            </a:r>
          </a:p>
          <a:p>
            <a:pPr>
              <a:spcBef>
                <a:spcPts val="200"/>
              </a:spcBef>
              <a:defRPr sz="900">
                <a:solidFill>
                  <a:srgbClr val="BFBFBF"/>
                </a:solidFill>
                <a:latin typeface="Courier New"/>
              </a:defRPr>
            </a:pPr>
            <a:r>
              <a:t>POST    /api/habits/{id}/logs    Log completion</a:t>
            </a:r>
          </a:p>
          <a:p>
            <a:pPr>
              <a:spcBef>
                <a:spcPts val="200"/>
              </a:spcBef>
              <a:defRPr sz="900">
                <a:solidFill>
                  <a:srgbClr val="BFBFBF"/>
                </a:solidFill>
                <a:latin typeface="Courier New"/>
              </a:defRPr>
            </a:pPr>
            <a:r>
              <a:t>GET     /api/habits/{id}/logs    View logs</a:t>
            </a:r>
          </a:p>
          <a:p>
            <a:pPr>
              <a:spcBef>
                <a:spcPts val="200"/>
              </a:spcBef>
              <a:defRPr sz="900">
                <a:solidFill>
                  <a:srgbClr val="BFBFBF"/>
                </a:solidFill>
                <a:latin typeface="Courier New"/>
              </a:defRPr>
            </a:pPr>
            <a:r>
              <a:t>GET     /api/habits/{id}/streak  Get streaks</a:t>
            </a:r>
          </a:p>
          <a:p>
            <a:pPr>
              <a:spcBef>
                <a:spcPts val="200"/>
              </a:spcBef>
              <a:defRPr sz="900">
                <a:solidFill>
                  <a:srgbClr val="BFBFBF"/>
                </a:solidFill>
                <a:latin typeface="Courier New"/>
              </a:defRPr>
            </a:pPr>
            <a:r>
              <a:t>GET     /api/analytics/weekly-summary    Weekly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BFBF"/>
                </a:solidFill>
              </a:defRPr>
            </a:pPr>
            <a:r>
              <a:t>Access Points:   /docs (Swagger)  |  /ui/ (Dashboard)  |  /health (Status)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✅ Deployed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✅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✅ Documented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5F5F5"/>
                </a:solidFill>
              </a:defRPr>
            </a:pPr>
            <a:r>
              <a:t>Built to Last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840480" cy="219456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5F5F5"/>
                </a:solidFill>
              </a:defRPr>
            </a:pPr>
            <a:r>
              <a:t>All passing</a:t>
            </a:r>
          </a:p>
          <a:p>
            <a:pPr>
              <a:spcBef>
                <a:spcPts val="200"/>
              </a:spcBef>
              <a:defRPr sz="1000">
                <a:solidFill>
                  <a:srgbClr val="F5F5F5"/>
                </a:solidFill>
              </a:defRPr>
            </a:pPr>
            <a:r>
              <a:t>Unit tests</a:t>
            </a:r>
          </a:p>
          <a:p>
            <a:pPr>
              <a:spcBef>
                <a:spcPts val="200"/>
              </a:spcBef>
              <a:defRPr sz="1000">
                <a:solidFill>
                  <a:srgbClr val="F5F5F5"/>
                </a:solidFill>
              </a:defRPr>
            </a:pPr>
            <a:r>
              <a:t>Auth validation</a:t>
            </a:r>
          </a:p>
          <a:p>
            <a:pPr>
              <a:spcBef>
                <a:spcPts val="200"/>
              </a:spcBef>
              <a:defRPr sz="1000">
                <a:solidFill>
                  <a:srgbClr val="F5F5F5"/>
                </a:solidFill>
              </a:defRPr>
            </a:pPr>
            <a:r>
              <a:t>Analytics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188720"/>
            <a:ext cx="3840480" cy="219456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32588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6459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Render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05740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5F5F5"/>
                </a:solidFill>
              </a:defRPr>
            </a:pPr>
            <a:r>
              <a:t>Live platform</a:t>
            </a:r>
          </a:p>
          <a:p>
            <a:pPr>
              <a:spcBef>
                <a:spcPts val="200"/>
              </a:spcBef>
              <a:defRPr sz="1000">
                <a:solidFill>
                  <a:srgbClr val="F5F5F5"/>
                </a:solidFill>
              </a:defRPr>
            </a:pPr>
            <a:r>
              <a:t>Auto-deploy from main</a:t>
            </a:r>
          </a:p>
          <a:p>
            <a:pPr>
              <a:spcBef>
                <a:spcPts val="200"/>
              </a:spcBef>
              <a:defRPr sz="1000">
                <a:solidFill>
                  <a:srgbClr val="F5F5F5"/>
                </a:solidFill>
              </a:defRPr>
            </a:pPr>
            <a:r>
              <a:t>Persisted database</a:t>
            </a:r>
          </a:p>
          <a:p>
            <a:pPr>
              <a:spcBef>
                <a:spcPts val="200"/>
              </a:spcBef>
              <a:defRPr sz="1000">
                <a:solidFill>
                  <a:srgbClr val="F5F5F5"/>
                </a:solidFill>
              </a:defRPr>
            </a:pPr>
            <a:r>
              <a:t>Health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8229600" cy="2286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Code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7863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5F5F5"/>
                </a:solidFill>
              </a:defRPr>
            </a:pPr>
            <a:r>
              <a:t>Comprehensive docstrings</a:t>
            </a:r>
          </a:p>
          <a:p>
            <a:pPr>
              <a:spcBef>
                <a:spcPts val="400"/>
              </a:spcBef>
              <a:defRPr sz="1100">
                <a:solidFill>
                  <a:srgbClr val="F5F5F5"/>
                </a:solidFill>
              </a:defRPr>
            </a:pPr>
            <a:r>
              <a:t>Structured error handling</a:t>
            </a:r>
          </a:p>
          <a:p>
            <a:pPr>
              <a:spcBef>
                <a:spcPts val="400"/>
              </a:spcBef>
              <a:defRPr sz="1100">
                <a:solidFill>
                  <a:srgbClr val="F5F5F5"/>
                </a:solidFill>
              </a:defRPr>
            </a:pPr>
            <a:r>
              <a:t>Conventional commits (49 total)</a:t>
            </a:r>
          </a:p>
          <a:p>
            <a:pPr>
              <a:spcBef>
                <a:spcPts val="400"/>
              </a:spcBef>
              <a:defRPr sz="1100">
                <a:solidFill>
                  <a:srgbClr val="F5F5F5"/>
                </a:solidFill>
              </a:defRPr>
            </a:pPr>
            <a:r>
              <a:t>Tracked database migrations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5F5F5"/>
                </a:solidFill>
              </a:defRPr>
            </a:pPr>
            <a:r>
              <a:t>Development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280160" cy="1645920"/>
          </a:xfrm>
          <a:prstGeom prst="roundRect">
            <a:avLst/>
          </a:prstGeom>
          <a:solidFill>
            <a:srgbClr val="06969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5"/>
                </a:solidFill>
              </a:defRPr>
            </a:pPr>
            <a: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</a:defRPr>
            </a:pPr>
            <a:r>
              <a:t>SQLAlchemy</a:t>
            </a:r>
            <a:br/>
            <a:r>
              <a:t>Alembic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371600"/>
            <a:ext cx="1280160" cy="1645920"/>
          </a:xfrm>
          <a:prstGeom prst="roundRect">
            <a:avLst/>
          </a:prstGeom>
          <a:solidFill>
            <a:srgbClr val="06A5A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28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5"/>
                </a:solidFill>
              </a:defRPr>
            </a:pPr>
            <a: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488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</a:defRPr>
            </a:pPr>
            <a:r>
              <a:t>X-API-Key</a:t>
            </a:r>
            <a:br/>
            <a:r>
              <a:t>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371600"/>
            <a:ext cx="1280160" cy="1645920"/>
          </a:xfrm>
          <a:prstGeom prst="roundRect">
            <a:avLst/>
          </a:prstGeom>
          <a:solidFill>
            <a:srgbClr val="06B4B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28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5"/>
                </a:solidFill>
              </a:defRPr>
            </a:pPr>
            <a: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488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</a:defRPr>
            </a:pPr>
            <a:r>
              <a:t>12 Routes</a:t>
            </a:r>
            <a:br/>
            <a:r>
              <a:t>+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1280160" cy="1645920"/>
          </a:xfrm>
          <a:prstGeom prst="roundRect">
            <a:avLst/>
          </a:prstGeom>
          <a:solidFill>
            <a:srgbClr val="06C3C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5"/>
                </a:solidFill>
              </a:defRPr>
            </a:pPr>
            <a:r>
              <a:t>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</a:defRPr>
            </a:pPr>
            <a:r>
              <a:t>14 Tests</a:t>
            </a:r>
            <a:br/>
            <a:r>
              <a:t>All 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657600"/>
            <a:ext cx="1280160" cy="1645920"/>
          </a:xfrm>
          <a:prstGeom prst="roundRect">
            <a:avLst/>
          </a:prstGeom>
          <a:solidFill>
            <a:srgbClr val="06D2D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20" y="3703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5"/>
                </a:solidFill>
              </a:defRPr>
            </a:pPr>
            <a: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4348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</a:defRPr>
            </a:pPr>
            <a:r>
              <a:t>HTML/CSS/JS</a:t>
            </a:r>
            <a:br/>
            <a:r>
              <a:t>No Frames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657600"/>
            <a:ext cx="1280160" cy="1645920"/>
          </a:xfrm>
          <a:prstGeom prst="roundRect">
            <a:avLst/>
          </a:prstGeom>
          <a:solidFill>
            <a:srgbClr val="06D4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3703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5"/>
                </a:solidFill>
              </a:defRPr>
            </a:pPr>
            <a:r>
              <a:t>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4348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</a:defRPr>
            </a:pPr>
            <a:r>
              <a:t>Render</a:t>
            </a:r>
            <a:br/>
            <a: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6B6D4"/>
                </a:solidFill>
              </a:defRPr>
            </a:pPr>
            <a:r>
              <a:t>49 Conventional Commits</a:t>
            </a:r>
          </a:p>
          <a:p>
            <a:pPr>
              <a:defRPr sz="1200">
                <a:solidFill>
                  <a:srgbClr val="BFBFBF"/>
                </a:solidFill>
              </a:defRPr>
            </a:pPr>
            <a:r>
              <a:t>Genesis → Latest  |  Clean history, proper versioning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5F5F5"/>
                </a:solidFill>
              </a:defRPr>
            </a:pPr>
            <a:r>
              <a:t>Simple API. Real Impact.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BFBFBF"/>
                </a:solidFill>
              </a:defRPr>
            </a:pPr>
            <a:r>
              <a:t>A complete, production-ready system for habit tracking and analytics.</a:t>
            </a:r>
          </a:p>
          <a:p>
            <a:pPr algn="ctr">
              <a:defRPr sz="1600">
                <a:solidFill>
                  <a:srgbClr val="BFBFBF"/>
                </a:solidFill>
              </a:defRPr>
            </a:pPr>
            <a:r>
              <a:t>Deployed on Render. Fully tested. Documented.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6B6D4"/>
                </a:solidFill>
              </a:defRPr>
            </a:pPr>
            <a:r>
              <a:t>Resources:</a:t>
            </a:r>
          </a:p>
          <a:p>
            <a:pPr algn="ctr">
              <a:spcBef>
                <a:spcPts val="300"/>
              </a:spcBef>
              <a:defRPr sz="1100">
                <a:solidFill>
                  <a:srgbClr val="F5F5F5"/>
                </a:solidFill>
              </a:defRPr>
            </a:pPr>
            <a:r>
              <a:t>📖 Technical Report (5 pages detailed)</a:t>
            </a:r>
          </a:p>
          <a:p>
            <a:pPr algn="ctr">
              <a:spcBef>
                <a:spcPts val="300"/>
              </a:spcBef>
              <a:defRPr sz="1100">
                <a:solidFill>
                  <a:srgbClr val="F5F5F5"/>
                </a:solidFill>
              </a:defRPr>
            </a:pPr>
            <a:r>
              <a:t>📝 API Documentation (Swagger)</a:t>
            </a:r>
          </a:p>
          <a:p>
            <a:pPr algn="ctr">
              <a:spcBef>
                <a:spcPts val="300"/>
              </a:spcBef>
              <a:defRPr sz="1100">
                <a:solidFill>
                  <a:srgbClr val="F5F5F5"/>
                </a:solidFill>
              </a:defRPr>
            </a:pPr>
            <a:r>
              <a:t>💾 Source: github.com/NicolasIssa1/COMP3011-CW1-HABIT-API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