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my Habit &amp; Productivity Analytics API for COMP3011 CW1. I'll walk through architecture, key features, testing, deployment, and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FastAPI chosen for auto-generated OpenAPI docs and high performance. SQLAlchemy ORM provides database abstraction. Alembic handles schema migrations. Auth is a simple API key in the X-API-Key header — 401 if missing, 403 if wrong. Frontend is vanilla JS so there's no build step — just static files served at /ui/.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model separates habits from logs. A habit defines what to track; a log records when it was done. The unique constraint on (habit_id, date) means trying to log the same habit twice on the same day returns 409 Conflict. This 'done-only' approach means missing dates simply mean the habit wasn't completed — no explicit 'skipped' entries needed, which keeps storage lean and streaks easy to compute.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distinct endpoints organised into three routers: habits, logs, analytics. All protected by X-API-Key except /health. The weekly summary accepts week in YYYY-WW or YYYY-Www format — validated by regex, returns 400 for invalid format or invalid ISO week number.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Proper HTTP semantics throughout. The 409 is particularly important — it's enforced by a database unique constraint on (habit_id, date), caught via IntegrityError in the logs router. The global exception handler in main.py catches any unhandled errors and returns a clean 500 JSON response.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tests across 3 files, all passing. Used pytest with FastAPI TestClient. The conftest.py provides an AuthenticatedTestClient that auto-injects the API key header. Tests cover happy paths, edge cases, and error conditions. No coverage report generated — I have not claimed any coverage percentage.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commits on main, using conventional commit prefixes. Key milestones: scaffold, models, deployment fix (Render had 'no such table' error which I fixed by calling create_all on startup), analytics 400 fix, auth, and frontend. The deployment incident was a real debugging challenge — Render doesn't run Alembic migrations automatically, so I added Base.metadata.create_all in the lifespan handler.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Deployed on Render free tier. The big incident was the 'no such table' 500 error. Render doesn't run Alembic upgrade head automatically, and the SQLite file was fresh each deploy. Solution: call create_all on startup in the lifespan context manager. This is idempotent — it only creates tables that don't exist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deliverables present in the docs/ folder and the repo root. GenAI declaration covers both ChatGPT and GitHub Copilot usage with percentage breakdown. Conversation logs include 3 ChatGPT examples and 3 Copilot examples with before/after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reiterate the key points — 12 endpoints, proper error handling, 14 tests, deployed on Render, complete documentation. Open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91695" cy="384048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914400" tIns="731520"/>
          <a:lstStyle/>
          <a:p>
            <a:pPr algn="l">
              <a:defRPr sz="4400" b="1">
                <a:solidFill>
                  <a:srgbClr val="FFFFFF"/>
                </a:solidFill>
              </a:defRPr>
            </a:pPr>
            <a:r>
              <a:t>Habit &amp; Productivity Analytics API</a:t>
            </a:r>
          </a:p>
          <a:p>
            <a:pPr algn="l">
              <a:defRPr sz="2200">
                <a:solidFill>
                  <a:srgbClr val="CBD5F0"/>
                </a:solidFill>
              </a:defRPr>
            </a:pPr>
            <a:r>
              <a:t>COMP3011 — Web Services &amp; Web Data  ·  Coursework 1</a:t>
            </a:r>
          </a:p>
        </p:txBody>
      </p:sp>
      <p:sp>
        <p:nvSpPr>
          <p:cNvPr id="3" name="TextBox 2"/>
          <p:cNvSpPr txBox="1"/>
          <p:nvPr/>
        </p:nvSpPr>
        <p:spPr>
          <a:xfrm>
            <a:off x="731520" y="4389120"/>
            <a:ext cx="10515600" cy="4572000"/>
          </a:xfrm>
          <a:prstGeom prst="rect">
            <a:avLst/>
          </a:prstGeom>
          <a:noFill/>
        </p:spPr>
        <p:txBody>
          <a:bodyPr wrap="square">
            <a:spAutoFit/>
          </a:bodyPr>
          <a:lstStyle/>
          <a:p>
            <a:pPr>
              <a:spcAft>
                <a:spcPts val="800"/>
              </a:spcAft>
              <a:defRPr sz="2000">
                <a:solidFill>
                  <a:srgbClr val="2C3E50"/>
                </a:solidFill>
              </a:defRPr>
            </a:pPr>
            <a:r>
              <a:t>Nicolas Issa</a:t>
            </a:r>
          </a:p>
          <a:p>
            <a:pPr>
              <a:spcAft>
                <a:spcPts val="800"/>
              </a:spcAft>
              <a:defRPr sz="2000">
                <a:solidFill>
                  <a:srgbClr val="2C3E50"/>
                </a:solidFill>
              </a:defRPr>
            </a:pPr>
            <a:r>
              <a:t>GitHub: NicolasIssa1/COMP3011-CW1-HABIT-API</a:t>
            </a:r>
          </a:p>
          <a:p>
            <a:pPr>
              <a:spcAft>
                <a:spcPts val="800"/>
              </a:spcAft>
              <a:defRPr sz="2000">
                <a:solidFill>
                  <a:srgbClr val="2C3E50"/>
                </a:solidFill>
              </a:defRPr>
            </a:pPr>
            <a:r>
              <a:t>Deployed: https://comp3011-cw1-habit-api.onrender.com</a:t>
            </a:r>
          </a:p>
          <a:p>
            <a:pPr>
              <a:spcAft>
                <a:spcPts val="800"/>
              </a:spcAft>
              <a:defRPr sz="2000">
                <a:solidFill>
                  <a:srgbClr val="2C3E50"/>
                </a:solidFill>
              </a:defRPr>
            </a:pPr>
            <a: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Architecture &amp; Tech Stack</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Backend: FastAPI (Python 3.12)</a:t>
            </a:r>
          </a:p>
          <a:p>
            <a:pPr>
              <a:spcAft>
                <a:spcPts val="800"/>
              </a:spcAft>
              <a:defRPr sz="1900">
                <a:solidFill>
                  <a:srgbClr val="2C3E50"/>
                </a:solidFill>
              </a:defRPr>
            </a:pPr>
            <a:r>
              <a:t>ORM: SQLAlchemy  ·  Migrations: Alembic</a:t>
            </a:r>
          </a:p>
          <a:p>
            <a:pPr>
              <a:spcAft>
                <a:spcPts val="800"/>
              </a:spcAft>
              <a:defRPr sz="1900">
                <a:solidFill>
                  <a:srgbClr val="2C3E50"/>
                </a:solidFill>
              </a:defRPr>
            </a:pPr>
            <a:r>
              <a:t>Database: SQLite (dev)  ·  schema auto-created at startup</a:t>
            </a:r>
          </a:p>
          <a:p>
            <a:pPr>
              <a:spcAft>
                <a:spcPts val="800"/>
              </a:spcAft>
              <a:defRPr sz="1900">
                <a:solidFill>
                  <a:srgbClr val="2C3E50"/>
                </a:solidFill>
              </a:defRPr>
            </a:pPr>
            <a:r>
              <a:t>Auth: X-API-Key header (401 missing / 403 invalid)</a:t>
            </a:r>
          </a:p>
          <a:p>
            <a:pPr>
              <a:spcAft>
                <a:spcPts val="800"/>
              </a:spcAft>
              <a:defRPr sz="1900">
                <a:solidFill>
                  <a:srgbClr val="2C3E50"/>
                </a:solidFill>
              </a:defRPr>
            </a:pPr>
            <a:r>
              <a:t>Deployment: Render (free tier, auto‑deploy from main)</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Frontend: Vanilla HTML / CSS / JS at /ui/</a:t>
            </a:r>
          </a:p>
          <a:p>
            <a:pPr>
              <a:spcAft>
                <a:spcPts val="800"/>
              </a:spcAft>
              <a:defRPr sz="1900">
                <a:solidFill>
                  <a:srgbClr val="2C3E50"/>
                </a:solidFill>
              </a:defRPr>
            </a:pPr>
            <a:r>
              <a:t>API docs: Swagger UI auto-generated at /docs</a:t>
            </a:r>
          </a:p>
          <a:p>
            <a:pPr>
              <a:spcAft>
                <a:spcPts val="800"/>
              </a:spcAft>
              <a:defRPr sz="1900">
                <a:solidFill>
                  <a:srgbClr val="2C3E50"/>
                </a:solidFill>
              </a:defRPr>
            </a:pPr>
            <a:r>
              <a:t>Testing: pytest (14 tests, 3 files)</a:t>
            </a:r>
          </a:p>
          <a:p>
            <a:pPr>
              <a:spcAft>
                <a:spcPts val="800"/>
              </a:spcAft>
              <a:defRPr sz="1900">
                <a:solidFill>
                  <a:srgbClr val="2C3E50"/>
                </a:solidFill>
              </a:defRPr>
            </a:pPr>
            <a:r>
              <a:t>Version control: Git + GitHub (49 commits)</a:t>
            </a:r>
          </a:p>
          <a:p>
            <a:pPr>
              <a:spcAft>
                <a:spcPts val="800"/>
              </a:spcAft>
              <a:defRPr sz="1900">
                <a:solidFill>
                  <a:srgbClr val="2C3E50"/>
                </a:solidFill>
              </a:defRPr>
            </a:pPr>
            <a:r>
              <a:t>[Screenshot placeholder: architecture diagram]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Data Model &amp; Design Decisions</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Two tables: Habit  ↔  HabitLog (1-to-many)</a:t>
            </a:r>
          </a:p>
          <a:p>
            <a:pPr>
              <a:spcAft>
                <a:spcPts val="800"/>
              </a:spcAft>
              <a:defRPr sz="1900">
                <a:solidFill>
                  <a:srgbClr val="2C3E50"/>
                </a:solidFill>
              </a:defRPr>
            </a:pPr>
            <a:r>
              <a:t>Habit: id, name, description, frequency, is_active, created_at</a:t>
            </a:r>
          </a:p>
          <a:p>
            <a:pPr>
              <a:spcAft>
                <a:spcPts val="800"/>
              </a:spcAft>
              <a:defRPr sz="1900">
                <a:solidFill>
                  <a:srgbClr val="2C3E50"/>
                </a:solidFill>
              </a:defRPr>
            </a:pPr>
            <a:r>
              <a:t>HabitLog: id, habit_id (FK), date, notes, created_at</a:t>
            </a:r>
          </a:p>
          <a:p>
            <a:pPr>
              <a:spcAft>
                <a:spcPts val="800"/>
              </a:spcAft>
              <a:defRPr sz="1900">
                <a:solidFill>
                  <a:srgbClr val="2C3E50"/>
                </a:solidFill>
              </a:defRPr>
            </a:pPr>
            <a:r>
              <a:t>Unique constraint: (habit_id, date) → prevents duplicate logs</a:t>
            </a:r>
          </a:p>
          <a:p>
            <a:pPr>
              <a:spcAft>
                <a:spcPts val="800"/>
              </a:spcAft>
              <a:defRPr sz="1900">
                <a:solidFill>
                  <a:srgbClr val="2C3E50"/>
                </a:solidFill>
              </a:defRPr>
            </a:pPr>
            <a:r>
              <a:t>Done-only logging: a log exists only when a habit is completed</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Design rationale:</a:t>
            </a:r>
          </a:p>
          <a:p>
            <a:pPr>
              <a:spcAft>
                <a:spcPts val="800"/>
              </a:spcAft>
              <a:defRPr sz="1900">
                <a:solidFill>
                  <a:srgbClr val="2C3E50"/>
                </a:solidFill>
              </a:defRPr>
            </a:pPr>
            <a:r>
              <a:t>  • Normalised schema keeps analytics queries simple</a:t>
            </a:r>
          </a:p>
          <a:p>
            <a:pPr>
              <a:spcAft>
                <a:spcPts val="800"/>
              </a:spcAft>
              <a:defRPr sz="1900">
                <a:solidFill>
                  <a:srgbClr val="2C3E50"/>
                </a:solidFill>
              </a:defRPr>
            </a:pPr>
            <a:r>
              <a:t>  • Missing dates = not completed (no 'skipped' state needed)</a:t>
            </a:r>
          </a:p>
          <a:p>
            <a:pPr>
              <a:spcAft>
                <a:spcPts val="800"/>
              </a:spcAft>
              <a:defRPr sz="1900">
                <a:solidFill>
                  <a:srgbClr val="2C3E50"/>
                </a:solidFill>
              </a:defRPr>
            </a:pPr>
            <a:r>
              <a:t>  • Uniqueness constraint enforced at DB level → 409 Conflict</a:t>
            </a:r>
          </a:p>
          <a:p>
            <a:pPr>
              <a:spcAft>
                <a:spcPts val="800"/>
              </a:spcAft>
              <a:defRPr sz="1900">
                <a:solidFill>
                  <a:srgbClr val="2C3E50"/>
                </a:solidFill>
              </a:defRPr>
            </a:pPr>
            <a:r>
              <a:t>  • is_active soft-delete flag on habits</a:t>
            </a:r>
          </a:p>
          <a:p>
            <a:pPr>
              <a:spcAft>
                <a:spcPts val="800"/>
              </a:spcAft>
              <a:defRPr sz="1900">
                <a:solidFill>
                  <a:srgbClr val="2C3E50"/>
                </a:solidFill>
              </a:defRPr>
            </a:pPr>
            <a:r>
              <a:t>  • Cascade considerations for habit deletion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API Endpoints &amp; Features</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Habits CRUD:</a:t>
            </a:r>
          </a:p>
          <a:p>
            <a:pPr>
              <a:spcAft>
                <a:spcPts val="800"/>
              </a:spcAft>
              <a:defRPr sz="1900">
                <a:solidFill>
                  <a:srgbClr val="2C3E50"/>
                </a:solidFill>
              </a:defRPr>
            </a:pPr>
            <a:r>
              <a:t>  POST   /api/habits             → 201 Created</a:t>
            </a:r>
          </a:p>
          <a:p>
            <a:pPr>
              <a:spcAft>
                <a:spcPts val="800"/>
              </a:spcAft>
              <a:defRPr sz="1900">
                <a:solidFill>
                  <a:srgbClr val="2C3E50"/>
                </a:solidFill>
              </a:defRPr>
            </a:pPr>
            <a:r>
              <a:t>  GET    /api/habits             → 200 (paginated, filterable)</a:t>
            </a:r>
          </a:p>
          <a:p>
            <a:pPr>
              <a:spcAft>
                <a:spcPts val="800"/>
              </a:spcAft>
              <a:defRPr sz="1900">
                <a:solidFill>
                  <a:srgbClr val="2C3E50"/>
                </a:solidFill>
              </a:defRPr>
            </a:pPr>
            <a:r>
              <a:t>  GET    /api/habits/{id}        → 200 / 404</a:t>
            </a:r>
          </a:p>
          <a:p>
            <a:pPr>
              <a:spcAft>
                <a:spcPts val="800"/>
              </a:spcAft>
              <a:defRPr sz="1900">
                <a:solidFill>
                  <a:srgbClr val="2C3E50"/>
                </a:solidFill>
              </a:defRPr>
            </a:pPr>
            <a:r>
              <a:t>  PATCH  /api/habits/{id}        → 200 / 404</a:t>
            </a:r>
          </a:p>
          <a:p>
            <a:pPr>
              <a:spcAft>
                <a:spcPts val="800"/>
              </a:spcAft>
              <a:defRPr sz="1900">
                <a:solidFill>
                  <a:srgbClr val="2C3E50"/>
                </a:solidFill>
              </a:defRPr>
            </a:pPr>
            <a:r>
              <a:t>  DELETE /api/habits/{id}        → 204 / 404</a:t>
            </a:r>
          </a:p>
          <a:p>
            <a:pPr>
              <a:spcAft>
                <a:spcPts val="800"/>
              </a:spcAft>
              <a:defRPr sz="1900">
                <a:solidFill>
                  <a:srgbClr val="2C3E50"/>
                </a:solidFill>
              </a:defRPr>
            </a:pPr>
          </a:p>
          <a:p>
            <a:pPr>
              <a:spcAft>
                <a:spcPts val="800"/>
              </a:spcAft>
              <a:defRPr sz="1900">
                <a:solidFill>
                  <a:srgbClr val="2C3E50"/>
                </a:solidFill>
              </a:defRPr>
            </a:pPr>
            <a:r>
              <a:t>Logs:</a:t>
            </a:r>
          </a:p>
          <a:p>
            <a:pPr>
              <a:spcAft>
                <a:spcPts val="800"/>
              </a:spcAft>
              <a:defRPr sz="1900">
                <a:solidFill>
                  <a:srgbClr val="2C3E50"/>
                </a:solidFill>
              </a:defRPr>
            </a:pPr>
            <a:r>
              <a:t>  POST   /api/habits/{id}/logs   → 201 / 409 duplicate</a:t>
            </a:r>
          </a:p>
          <a:p>
            <a:pPr>
              <a:spcAft>
                <a:spcPts val="800"/>
              </a:spcAft>
              <a:defRPr sz="1900">
                <a:solidFill>
                  <a:srgbClr val="2C3E50"/>
                </a:solidFill>
              </a:defRPr>
            </a:pPr>
            <a:r>
              <a:t>  GET    /api/habits/{id}/logs   → 200 (date-filterable)</a:t>
            </a:r>
          </a:p>
          <a:p>
            <a:pPr>
              <a:spcAft>
                <a:spcPts val="800"/>
              </a:spcAft>
              <a:defRPr sz="1900">
                <a:solidFill>
                  <a:srgbClr val="2C3E50"/>
                </a:solidFill>
              </a:defRPr>
            </a:pPr>
            <a:r>
              <a:t>  DELETE /api/habits/{id}/logs/{log_id} → 204 / 404</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Analytics:</a:t>
            </a:r>
          </a:p>
          <a:p>
            <a:pPr>
              <a:spcAft>
                <a:spcPts val="800"/>
              </a:spcAft>
              <a:defRPr sz="1900">
                <a:solidFill>
                  <a:srgbClr val="2C3E50"/>
                </a:solidFill>
              </a:defRPr>
            </a:pPr>
            <a:r>
              <a:t>  GET /api/habits/{id}/streak</a:t>
            </a:r>
          </a:p>
          <a:p>
            <a:pPr>
              <a:spcAft>
                <a:spcPts val="800"/>
              </a:spcAft>
              <a:defRPr sz="1900">
                <a:solidFill>
                  <a:srgbClr val="2C3E50"/>
                </a:solidFill>
              </a:defRPr>
            </a:pPr>
            <a:r>
              <a:t>    → current_streak, longest_streak, total_completions</a:t>
            </a:r>
          </a:p>
          <a:p>
            <a:pPr>
              <a:spcAft>
                <a:spcPts val="800"/>
              </a:spcAft>
              <a:defRPr sz="1900">
                <a:solidFill>
                  <a:srgbClr val="2C3E50"/>
                </a:solidFill>
              </a:defRPr>
            </a:pPr>
          </a:p>
          <a:p>
            <a:pPr>
              <a:spcAft>
                <a:spcPts val="800"/>
              </a:spcAft>
              <a:defRPr sz="1900">
                <a:solidFill>
                  <a:srgbClr val="2C3E50"/>
                </a:solidFill>
              </a:defRPr>
            </a:pPr>
            <a:r>
              <a:t>  GET /api/analytics/weekly-summary?week=YYYY-WW</a:t>
            </a:r>
          </a:p>
          <a:p>
            <a:pPr>
              <a:spcAft>
                <a:spcPts val="800"/>
              </a:spcAft>
              <a:defRPr sz="1900">
                <a:solidFill>
                  <a:srgbClr val="2C3E50"/>
                </a:solidFill>
              </a:defRPr>
            </a:pPr>
            <a:r>
              <a:t>    → per-habit completions for an ISO week</a:t>
            </a:r>
          </a:p>
          <a:p>
            <a:pPr>
              <a:spcAft>
                <a:spcPts val="800"/>
              </a:spcAft>
              <a:defRPr sz="1900">
                <a:solidFill>
                  <a:srgbClr val="2C3E50"/>
                </a:solidFill>
              </a:defRPr>
            </a:pPr>
            <a:r>
              <a:t>    → accepts 2026-09 or 2026-W09</a:t>
            </a:r>
          </a:p>
          <a:p>
            <a:pPr>
              <a:spcAft>
                <a:spcPts val="800"/>
              </a:spcAft>
              <a:defRPr sz="1900">
                <a:solidFill>
                  <a:srgbClr val="2C3E50"/>
                </a:solidFill>
              </a:defRPr>
            </a:pPr>
          </a:p>
          <a:p>
            <a:pPr>
              <a:spcAft>
                <a:spcPts val="800"/>
              </a:spcAft>
              <a:defRPr sz="1900">
                <a:solidFill>
                  <a:srgbClr val="2C3E50"/>
                </a:solidFill>
              </a:defRPr>
            </a:pPr>
            <a:r>
              <a:t>Other:</a:t>
            </a:r>
          </a:p>
          <a:p>
            <a:pPr>
              <a:spcAft>
                <a:spcPts val="800"/>
              </a:spcAft>
              <a:defRPr sz="1900">
                <a:solidFill>
                  <a:srgbClr val="2C3E50"/>
                </a:solidFill>
              </a:defRPr>
            </a:pPr>
            <a:r>
              <a:t>  GET /health         → public health check</a:t>
            </a:r>
          </a:p>
          <a:p>
            <a:pPr>
              <a:spcAft>
                <a:spcPts val="800"/>
              </a:spcAft>
              <a:defRPr sz="1900">
                <a:solidFill>
                  <a:srgbClr val="2C3E50"/>
                </a:solidFill>
              </a:defRPr>
            </a:pPr>
            <a:r>
              <a:t>  GET /docs           → Swagger UI</a:t>
            </a:r>
          </a:p>
          <a:p>
            <a:pPr>
              <a:spcAft>
                <a:spcPts val="800"/>
              </a:spcAft>
              <a:defRPr sz="1900">
                <a:solidFill>
                  <a:srgbClr val="2C3E50"/>
                </a:solidFill>
              </a:defRPr>
            </a:pPr>
            <a:r>
              <a:t>  GET /ui/            → web dashboard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Error Handling &amp; HTTP Status Codes</a:t>
            </a:r>
          </a:p>
        </p:txBody>
      </p:sp>
      <p:sp>
        <p:nvSpPr>
          <p:cNvPr id="3" name="TextBox 2"/>
          <p:cNvSpPr txBox="1"/>
          <p:nvPr/>
        </p:nvSpPr>
        <p:spPr>
          <a:xfrm>
            <a:off x="731520" y="1463040"/>
            <a:ext cx="10515600" cy="4572000"/>
          </a:xfrm>
          <a:prstGeom prst="rect">
            <a:avLst/>
          </a:prstGeom>
          <a:noFill/>
        </p:spPr>
        <p:txBody>
          <a:bodyPr wrap="square">
            <a:spAutoFit/>
          </a:bodyPr>
          <a:lstStyle/>
          <a:p>
            <a:pPr>
              <a:spcAft>
                <a:spcPts val="800"/>
              </a:spcAft>
              <a:defRPr sz="2000">
                <a:solidFill>
                  <a:srgbClr val="2C3E50"/>
                </a:solidFill>
              </a:defRPr>
            </a:pPr>
            <a:r>
              <a:t>200 OK — successful GET / PATCH</a:t>
            </a:r>
          </a:p>
          <a:p>
            <a:pPr>
              <a:spcAft>
                <a:spcPts val="800"/>
              </a:spcAft>
              <a:defRPr sz="2000">
                <a:solidFill>
                  <a:srgbClr val="2C3E50"/>
                </a:solidFill>
              </a:defRPr>
            </a:pPr>
            <a:r>
              <a:t>201 Created — successful POST (habit or log)</a:t>
            </a:r>
          </a:p>
          <a:p>
            <a:pPr>
              <a:spcAft>
                <a:spcPts val="800"/>
              </a:spcAft>
              <a:defRPr sz="2000">
                <a:solidFill>
                  <a:srgbClr val="2C3E50"/>
                </a:solidFill>
              </a:defRPr>
            </a:pPr>
            <a:r>
              <a:t>204 No Content — successful DELETE</a:t>
            </a:r>
          </a:p>
          <a:p>
            <a:pPr>
              <a:spcAft>
                <a:spcPts val="800"/>
              </a:spcAft>
              <a:defRPr sz="2000">
                <a:solidFill>
                  <a:srgbClr val="2C3E50"/>
                </a:solidFill>
              </a:defRPr>
            </a:pPr>
            <a:r>
              <a:t>400 Bad Request — invalid week format or invalid ISO week number</a:t>
            </a:r>
          </a:p>
          <a:p>
            <a:pPr>
              <a:spcAft>
                <a:spcPts val="800"/>
              </a:spcAft>
              <a:defRPr sz="2000">
                <a:solidFill>
                  <a:srgbClr val="2C3E50"/>
                </a:solidFill>
              </a:defRPr>
            </a:pPr>
            <a:r>
              <a:t>401 Unauthorized — missing X-API-Key header</a:t>
            </a:r>
          </a:p>
          <a:p>
            <a:pPr>
              <a:spcAft>
                <a:spcPts val="800"/>
              </a:spcAft>
              <a:defRPr sz="2000">
                <a:solidFill>
                  <a:srgbClr val="2C3E50"/>
                </a:solidFill>
              </a:defRPr>
            </a:pPr>
            <a:r>
              <a:t>403 Forbidden — wrong API key value</a:t>
            </a:r>
          </a:p>
          <a:p>
            <a:pPr>
              <a:spcAft>
                <a:spcPts val="800"/>
              </a:spcAft>
              <a:defRPr sz="2000">
                <a:solidFill>
                  <a:srgbClr val="2C3E50"/>
                </a:solidFill>
              </a:defRPr>
            </a:pPr>
            <a:r>
              <a:t>404 Not Found — habit or log does not exist</a:t>
            </a:r>
          </a:p>
          <a:p>
            <a:pPr>
              <a:spcAft>
                <a:spcPts val="800"/>
              </a:spcAft>
              <a:defRPr sz="2000">
                <a:solidFill>
                  <a:srgbClr val="2C3E50"/>
                </a:solidFill>
              </a:defRPr>
            </a:pPr>
            <a:r>
              <a:t>409 Conflict — duplicate log for same habit + date (DB unique constraint)</a:t>
            </a:r>
          </a:p>
          <a:p>
            <a:pPr>
              <a:spcAft>
                <a:spcPts val="800"/>
              </a:spcAft>
              <a:defRPr sz="2000">
                <a:solidFill>
                  <a:srgbClr val="2C3E50"/>
                </a:solidFill>
              </a:defRPr>
            </a:pPr>
            <a:r>
              <a:t>422 Unprocessable Entity — missing required query params (FastAPI default)</a:t>
            </a:r>
          </a:p>
          <a:p>
            <a:pPr>
              <a:spcAft>
                <a:spcPts val="800"/>
              </a:spcAft>
              <a:defRPr sz="2000">
                <a:solidFill>
                  <a:srgbClr val="2C3E50"/>
                </a:solidFill>
              </a:defRPr>
            </a:pPr>
            <a:r>
              <a:t>500 Internal Server Error — caught by global exception handler middleware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Testing — 14 Tests, All Passing</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test_auth.py (4 tests):</a:t>
            </a:r>
          </a:p>
          <a:p>
            <a:pPr>
              <a:spcAft>
                <a:spcPts val="800"/>
              </a:spcAft>
              <a:defRPr sz="1900">
                <a:solidFill>
                  <a:srgbClr val="2C3E50"/>
                </a:solidFill>
              </a:defRPr>
            </a:pPr>
            <a:r>
              <a:t>  • 401 when X-API-Key missing</a:t>
            </a:r>
          </a:p>
          <a:p>
            <a:pPr>
              <a:spcAft>
                <a:spcPts val="800"/>
              </a:spcAft>
              <a:defRPr sz="1900">
                <a:solidFill>
                  <a:srgbClr val="2C3E50"/>
                </a:solidFill>
              </a:defRPr>
            </a:pPr>
            <a:r>
              <a:t>  • 403 when API key invalid</a:t>
            </a:r>
          </a:p>
          <a:p>
            <a:pPr>
              <a:spcAft>
                <a:spcPts val="800"/>
              </a:spcAft>
              <a:defRPr sz="1900">
                <a:solidFill>
                  <a:srgbClr val="2C3E50"/>
                </a:solidFill>
              </a:defRPr>
            </a:pPr>
            <a:r>
              <a:t>  • 200 when API key valid</a:t>
            </a:r>
          </a:p>
          <a:p>
            <a:pPr>
              <a:spcAft>
                <a:spcPts val="800"/>
              </a:spcAft>
              <a:defRPr sz="1900">
                <a:solidFill>
                  <a:srgbClr val="2C3E50"/>
                </a:solidFill>
              </a:defRPr>
            </a:pPr>
            <a:r>
              <a:t>  • Health endpoint behaviour</a:t>
            </a:r>
          </a:p>
          <a:p>
            <a:pPr>
              <a:spcAft>
                <a:spcPts val="800"/>
              </a:spcAft>
              <a:defRPr sz="1900">
                <a:solidFill>
                  <a:srgbClr val="2C3E50"/>
                </a:solidFill>
              </a:defRPr>
            </a:pPr>
          </a:p>
          <a:p>
            <a:pPr>
              <a:spcAft>
                <a:spcPts val="800"/>
              </a:spcAft>
              <a:defRPr sz="1900">
                <a:solidFill>
                  <a:srgbClr val="2C3E50"/>
                </a:solidFill>
              </a:defRPr>
            </a:pPr>
            <a:r>
              <a:t>test_habits.py (3 tests):</a:t>
            </a:r>
          </a:p>
          <a:p>
            <a:pPr>
              <a:spcAft>
                <a:spcPts val="800"/>
              </a:spcAft>
              <a:defRPr sz="1900">
                <a:solidFill>
                  <a:srgbClr val="2C3E50"/>
                </a:solidFill>
              </a:defRPr>
            </a:pPr>
            <a:r>
              <a:t>  • Create + list habits</a:t>
            </a:r>
          </a:p>
          <a:p>
            <a:pPr>
              <a:spcAft>
                <a:spcPts val="800"/>
              </a:spcAft>
              <a:defRPr sz="1900">
                <a:solidFill>
                  <a:srgbClr val="2C3E50"/>
                </a:solidFill>
              </a:defRPr>
            </a:pPr>
            <a:r>
              <a:t>  • PATCH missing habit → 404</a:t>
            </a:r>
          </a:p>
          <a:p>
            <a:pPr>
              <a:spcAft>
                <a:spcPts val="800"/>
              </a:spcAft>
              <a:defRPr sz="1900">
                <a:solidFill>
                  <a:srgbClr val="2C3E50"/>
                </a:solidFill>
              </a:defRPr>
            </a:pPr>
            <a:r>
              <a:t>  • Delete → then GET → 404</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test_logs_and_analytics.py (7 tests):</a:t>
            </a:r>
          </a:p>
          <a:p>
            <a:pPr>
              <a:spcAft>
                <a:spcPts val="800"/>
              </a:spcAft>
              <a:defRPr sz="1900">
                <a:solidFill>
                  <a:srgbClr val="2C3E50"/>
                </a:solidFill>
              </a:defRPr>
            </a:pPr>
            <a:r>
              <a:t>  • Duplicate log → 409 Conflict</a:t>
            </a:r>
          </a:p>
          <a:p>
            <a:pPr>
              <a:spcAft>
                <a:spcPts val="800"/>
              </a:spcAft>
              <a:defRPr sz="1900">
                <a:solidFill>
                  <a:srgbClr val="2C3E50"/>
                </a:solidFill>
              </a:defRPr>
            </a:pPr>
            <a:r>
              <a:t>  • Streak + weekly summary (valid week)</a:t>
            </a:r>
          </a:p>
          <a:p>
            <a:pPr>
              <a:spcAft>
                <a:spcPts val="800"/>
              </a:spcAft>
              <a:defRPr sz="1900">
                <a:solidFill>
                  <a:srgbClr val="2C3E50"/>
                </a:solidFill>
              </a:defRPr>
            </a:pPr>
            <a:r>
              <a:t>  • Invalid week format → 400</a:t>
            </a:r>
          </a:p>
          <a:p>
            <a:pPr>
              <a:spcAft>
                <a:spcPts val="800"/>
              </a:spcAft>
              <a:defRPr sz="1900">
                <a:solidFill>
                  <a:srgbClr val="2C3E50"/>
                </a:solidFill>
              </a:defRPr>
            </a:pPr>
            <a:r>
              <a:t>  • Invalid week number → 400</a:t>
            </a:r>
          </a:p>
          <a:p>
            <a:pPr>
              <a:spcAft>
                <a:spcPts val="800"/>
              </a:spcAft>
              <a:defRPr sz="1900">
                <a:solidFill>
                  <a:srgbClr val="2C3E50"/>
                </a:solidFill>
              </a:defRPr>
            </a:pPr>
            <a:r>
              <a:t>  • Delete missing log → 404</a:t>
            </a:r>
          </a:p>
          <a:p>
            <a:pPr>
              <a:spcAft>
                <a:spcPts val="800"/>
              </a:spcAft>
              <a:defRPr sz="1900">
                <a:solidFill>
                  <a:srgbClr val="2C3E50"/>
                </a:solidFill>
              </a:defRPr>
            </a:pPr>
            <a:r>
              <a:t>  • Log for missing habit → 404</a:t>
            </a:r>
          </a:p>
          <a:p>
            <a:pPr>
              <a:spcAft>
                <a:spcPts val="800"/>
              </a:spcAft>
              <a:defRPr sz="1900">
                <a:solidFill>
                  <a:srgbClr val="2C3E50"/>
                </a:solidFill>
              </a:defRPr>
            </a:pPr>
            <a:r>
              <a:t>  • Missing week param → 422</a:t>
            </a:r>
          </a:p>
          <a:p>
            <a:pPr>
              <a:spcAft>
                <a:spcPts val="800"/>
              </a:spcAft>
              <a:defRPr sz="1900">
                <a:solidFill>
                  <a:srgbClr val="2C3E50"/>
                </a:solidFill>
              </a:defRPr>
            </a:pPr>
          </a:p>
          <a:p>
            <a:pPr>
              <a:spcAft>
                <a:spcPts val="800"/>
              </a:spcAft>
              <a:defRPr sz="1900">
                <a:solidFill>
                  <a:srgbClr val="2C3E50"/>
                </a:solidFill>
              </a:defRPr>
            </a:pPr>
            <a:r>
              <a:t>[Screenshot placeholder: pytest -v output]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Version Control — 49 Commits on main</a:t>
            </a:r>
          </a:p>
        </p:txBody>
      </p:sp>
      <p:sp>
        <p:nvSpPr>
          <p:cNvPr id="3" name="TextBox 2"/>
          <p:cNvSpPr txBox="1"/>
          <p:nvPr/>
        </p:nvSpPr>
        <p:spPr>
          <a:xfrm>
            <a:off x="731520" y="1463040"/>
            <a:ext cx="10515600" cy="4572000"/>
          </a:xfrm>
          <a:prstGeom prst="rect">
            <a:avLst/>
          </a:prstGeom>
          <a:noFill/>
        </p:spPr>
        <p:txBody>
          <a:bodyPr wrap="square">
            <a:spAutoFit/>
          </a:bodyPr>
          <a:lstStyle/>
          <a:p>
            <a:pPr>
              <a:spcAft>
                <a:spcPts val="800"/>
              </a:spcAft>
              <a:defRPr sz="1800">
                <a:solidFill>
                  <a:srgbClr val="2C3E50"/>
                </a:solidFill>
              </a:defRPr>
            </a:pPr>
            <a:r>
              <a:t>Selected milestones from git log:</a:t>
            </a:r>
          </a:p>
          <a:p>
            <a:pPr>
              <a:spcAft>
                <a:spcPts val="800"/>
              </a:spcAft>
              <a:defRPr sz="1800">
                <a:solidFill>
                  <a:srgbClr val="2C3E50"/>
                </a:solidFill>
              </a:defRPr>
            </a:pPr>
          </a:p>
          <a:p>
            <a:pPr>
              <a:spcAft>
                <a:spcPts val="800"/>
              </a:spcAft>
              <a:defRPr sz="1800">
                <a:solidFill>
                  <a:srgbClr val="2C3E50"/>
                </a:solidFill>
              </a:defRPr>
            </a:pPr>
            <a:r>
              <a:t>5d856f3  Repo scaffold — project structure, docs placeholders, tooling files</a:t>
            </a:r>
          </a:p>
          <a:p>
            <a:pPr>
              <a:spcAft>
                <a:spcPts val="800"/>
              </a:spcAft>
              <a:defRPr sz="1800">
                <a:solidFill>
                  <a:srgbClr val="2C3E50"/>
                </a:solidFill>
              </a:defRPr>
            </a:pPr>
            <a:r>
              <a:t>f39f338  FastAPI app skeleton + health endpoint</a:t>
            </a:r>
          </a:p>
          <a:p>
            <a:pPr>
              <a:spcAft>
                <a:spcPts val="800"/>
              </a:spcAft>
              <a:defRPr sz="1800">
                <a:solidFill>
                  <a:srgbClr val="2C3E50"/>
                </a:solidFill>
              </a:defRPr>
            </a:pPr>
            <a:r>
              <a:t>e9b701d  DB config, SQLAlchemy models, Alembic setup</a:t>
            </a:r>
          </a:p>
          <a:p>
            <a:pPr>
              <a:spcAft>
                <a:spcPts val="800"/>
              </a:spcAft>
              <a:defRPr sz="1800">
                <a:solidFill>
                  <a:srgbClr val="2C3E50"/>
                </a:solidFill>
              </a:defRPr>
            </a:pPr>
            <a:r>
              <a:t>02406d5  fix(deploy): ensure DB schema exists on Render startup</a:t>
            </a:r>
          </a:p>
          <a:p>
            <a:pPr>
              <a:spcAft>
                <a:spcPts val="800"/>
              </a:spcAft>
              <a:defRPr sz="1800">
                <a:solidFill>
                  <a:srgbClr val="2C3E50"/>
                </a:solidFill>
              </a:defRPr>
            </a:pPr>
            <a:r>
              <a:t>2025cac  fix(analytics): return 400 for invalid ISO week values</a:t>
            </a:r>
          </a:p>
          <a:p>
            <a:pPr>
              <a:spcAft>
                <a:spcPts val="800"/>
              </a:spcAft>
              <a:defRPr sz="1800">
                <a:solidFill>
                  <a:srgbClr val="2C3E50"/>
                </a:solidFill>
              </a:defRPr>
            </a:pPr>
            <a:r>
              <a:t>6244e15  test: add extra edge-case tests for habits + analytics</a:t>
            </a:r>
          </a:p>
          <a:p>
            <a:pPr>
              <a:spcAft>
                <a:spcPts val="800"/>
              </a:spcAft>
              <a:defRPr sz="1800">
                <a:solidFill>
                  <a:srgbClr val="2C3E50"/>
                </a:solidFill>
              </a:defRPr>
            </a:pPr>
            <a:r>
              <a:t>dc00a04  feat: add API key authentication + web dashboard</a:t>
            </a:r>
          </a:p>
          <a:p>
            <a:pPr>
              <a:spcAft>
                <a:spcPts val="800"/>
              </a:spcAft>
              <a:defRPr sz="1800">
                <a:solidFill>
                  <a:srgbClr val="2C3E50"/>
                </a:solidFill>
              </a:defRPr>
            </a:pPr>
            <a:r>
              <a:t>0a69604  fix(ui): correct 409 toast handling + remove duplicate loadHabits</a:t>
            </a:r>
          </a:p>
          <a:p>
            <a:pPr>
              <a:spcAft>
                <a:spcPts val="800"/>
              </a:spcAft>
              <a:defRPr sz="1800">
                <a:solidFill>
                  <a:srgbClr val="2C3E50"/>
                </a:solidFill>
              </a:defRPr>
            </a:pPr>
            <a:r>
              <a:t>12a42d6  docs(ai): add GenAI declaration PDF</a:t>
            </a:r>
          </a:p>
          <a:p>
            <a:pPr>
              <a:spcAft>
                <a:spcPts val="800"/>
              </a:spcAft>
              <a:defRPr sz="1800">
                <a:solidFill>
                  <a:srgbClr val="2C3E50"/>
                </a:solidFill>
              </a:defRPr>
            </a:pPr>
          </a:p>
          <a:p>
            <a:pPr>
              <a:spcAft>
                <a:spcPts val="800"/>
              </a:spcAft>
              <a:defRPr sz="1800">
                <a:solidFill>
                  <a:srgbClr val="2C3E50"/>
                </a:solidFill>
              </a:defRPr>
            </a:pPr>
            <a:r>
              <a:t>Conventional commit messages used throughout (feat / fix / docs / test / chore)</a:t>
            </a:r>
          </a:p>
          <a:p>
            <a:pPr>
              <a:spcAft>
                <a:spcPts val="800"/>
              </a:spcAft>
              <a:defRPr sz="1800">
                <a:solidFill>
                  <a:srgbClr val="2C3E50"/>
                </a:solidFill>
              </a:defRPr>
            </a:pPr>
            <a:r>
              <a:t>[Screenshot placeholder: git log --oneline terminal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Deployment on Render</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Platform: Render (free tier)</a:t>
            </a:r>
          </a:p>
          <a:p>
            <a:pPr>
              <a:spcAft>
                <a:spcPts val="800"/>
              </a:spcAft>
              <a:defRPr sz="1900">
                <a:solidFill>
                  <a:srgbClr val="2C3E50"/>
                </a:solidFill>
              </a:defRPr>
            </a:pPr>
            <a:r>
              <a:t>URL: comp3011-cw1-habit-api.onrender.com</a:t>
            </a:r>
          </a:p>
          <a:p>
            <a:pPr>
              <a:spcAft>
                <a:spcPts val="800"/>
              </a:spcAft>
              <a:defRPr sz="1900">
                <a:solidFill>
                  <a:srgbClr val="2C3E50"/>
                </a:solidFill>
              </a:defRPr>
            </a:pPr>
            <a:r>
              <a:t>Auto-deploy: pushes to main trigger redeploy</a:t>
            </a:r>
          </a:p>
          <a:p>
            <a:pPr>
              <a:spcAft>
                <a:spcPts val="800"/>
              </a:spcAft>
              <a:defRPr sz="1900">
                <a:solidFill>
                  <a:srgbClr val="2C3E50"/>
                </a:solidFill>
              </a:defRPr>
            </a:pPr>
            <a:r>
              <a:t>Start command: uvicorn app.main:app --host 0.0.0.0</a:t>
            </a:r>
          </a:p>
          <a:p>
            <a:pPr>
              <a:spcAft>
                <a:spcPts val="800"/>
              </a:spcAft>
              <a:defRPr sz="1900">
                <a:solidFill>
                  <a:srgbClr val="2C3E50"/>
                </a:solidFill>
              </a:defRPr>
            </a:pPr>
          </a:p>
          <a:p>
            <a:pPr>
              <a:spcAft>
                <a:spcPts val="800"/>
              </a:spcAft>
              <a:defRPr sz="1900">
                <a:solidFill>
                  <a:srgbClr val="2C3E50"/>
                </a:solidFill>
              </a:defRPr>
            </a:pPr>
            <a:r>
              <a:t>Verified endpoints:</a:t>
            </a:r>
          </a:p>
          <a:p>
            <a:pPr>
              <a:spcAft>
                <a:spcPts val="800"/>
              </a:spcAft>
              <a:defRPr sz="1900">
                <a:solidFill>
                  <a:srgbClr val="2C3E50"/>
                </a:solidFill>
              </a:defRPr>
            </a:pPr>
            <a:r>
              <a:t>  /health           → 200 ✓</a:t>
            </a:r>
          </a:p>
          <a:p>
            <a:pPr>
              <a:spcAft>
                <a:spcPts val="800"/>
              </a:spcAft>
              <a:defRPr sz="1900">
                <a:solidFill>
                  <a:srgbClr val="2C3E50"/>
                </a:solidFill>
              </a:defRPr>
            </a:pPr>
            <a:r>
              <a:t>  /docs             → Swagger UI ✓</a:t>
            </a:r>
          </a:p>
          <a:p>
            <a:pPr>
              <a:spcAft>
                <a:spcPts val="800"/>
              </a:spcAft>
              <a:defRPr sz="1900">
                <a:solidFill>
                  <a:srgbClr val="2C3E50"/>
                </a:solidFill>
              </a:defRPr>
            </a:pPr>
            <a:r>
              <a:t>  /api/habits       → 200 (with API key) ✓</a:t>
            </a:r>
          </a:p>
          <a:p>
            <a:pPr>
              <a:spcAft>
                <a:spcPts val="800"/>
              </a:spcAft>
              <a:defRPr sz="1900">
                <a:solidFill>
                  <a:srgbClr val="2C3E50"/>
                </a:solidFill>
              </a:defRPr>
            </a:pPr>
            <a:r>
              <a:t>  /ui/              → web dashboard ✓</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Deployment incident &amp; fix:</a:t>
            </a:r>
          </a:p>
          <a:p>
            <a:pPr>
              <a:spcAft>
                <a:spcPts val="800"/>
              </a:spcAft>
              <a:defRPr sz="1900">
                <a:solidFill>
                  <a:srgbClr val="2C3E50"/>
                </a:solidFill>
              </a:defRPr>
            </a:pPr>
            <a:r>
              <a:t>  Problem: /api/habits returned 500</a:t>
            </a:r>
          </a:p>
          <a:p>
            <a:pPr>
              <a:spcAft>
                <a:spcPts val="800"/>
              </a:spcAft>
              <a:defRPr sz="1900">
                <a:solidFill>
                  <a:srgbClr val="2C3E50"/>
                </a:solidFill>
              </a:defRPr>
            </a:pPr>
            <a:r>
              <a:t>  Cause: "no such table: habits" — SQLite DB</a:t>
            </a:r>
          </a:p>
          <a:p>
            <a:pPr>
              <a:spcAft>
                <a:spcPts val="800"/>
              </a:spcAft>
              <a:defRPr sz="1900">
                <a:solidFill>
                  <a:srgbClr val="2C3E50"/>
                </a:solidFill>
              </a:defRPr>
            </a:pPr>
            <a:r>
              <a:t>    was empty on Render (no Alembic migration ran)</a:t>
            </a:r>
          </a:p>
          <a:p>
            <a:pPr>
              <a:spcAft>
                <a:spcPts val="800"/>
              </a:spcAft>
              <a:defRPr sz="1900">
                <a:solidFill>
                  <a:srgbClr val="2C3E50"/>
                </a:solidFill>
              </a:defRPr>
            </a:pPr>
          </a:p>
          <a:p>
            <a:pPr>
              <a:spcAft>
                <a:spcPts val="800"/>
              </a:spcAft>
              <a:defRPr sz="1900">
                <a:solidFill>
                  <a:srgbClr val="2C3E50"/>
                </a:solidFill>
              </a:defRPr>
            </a:pPr>
            <a:r>
              <a:t>  Fix: added Base.metadata.create_all(bind=engine)</a:t>
            </a:r>
          </a:p>
          <a:p>
            <a:pPr>
              <a:spcAft>
                <a:spcPts val="800"/>
              </a:spcAft>
              <a:defRPr sz="1900">
                <a:solidFill>
                  <a:srgbClr val="2C3E50"/>
                </a:solidFill>
              </a:defRPr>
            </a:pPr>
            <a:r>
              <a:t>    in app/main.py lifespan startup handler</a:t>
            </a:r>
          </a:p>
          <a:p>
            <a:pPr>
              <a:spcAft>
                <a:spcPts val="800"/>
              </a:spcAft>
              <a:defRPr sz="1900">
                <a:solidFill>
                  <a:srgbClr val="2C3E50"/>
                </a:solidFill>
              </a:defRPr>
            </a:pPr>
            <a:r>
              <a:t>  Commits: 871826a → 0afbff2 → 02406d5</a:t>
            </a:r>
          </a:p>
          <a:p>
            <a:pPr>
              <a:spcAft>
                <a:spcPts val="800"/>
              </a:spcAft>
              <a:defRPr sz="1900">
                <a:solidFill>
                  <a:srgbClr val="2C3E50"/>
                </a:solidFill>
              </a:defRPr>
            </a:pPr>
          </a:p>
          <a:p>
            <a:pPr>
              <a:spcAft>
                <a:spcPts val="800"/>
              </a:spcAft>
              <a:defRPr sz="1900">
                <a:solidFill>
                  <a:srgbClr val="2C3E50"/>
                </a:solidFill>
              </a:defRPr>
            </a:pPr>
            <a:r>
              <a:t>[Screenshot placeholder: Render dashboard / /habits 200]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Deliverables Checklist</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Repository (GitHub):</a:t>
            </a:r>
          </a:p>
          <a:p>
            <a:pPr>
              <a:spcAft>
                <a:spcPts val="800"/>
              </a:spcAft>
              <a:defRPr sz="1900">
                <a:solidFill>
                  <a:srgbClr val="2C3E50"/>
                </a:solidFill>
              </a:defRPr>
            </a:pPr>
            <a:r>
              <a:t>  ✓ Source code — app/, tests/, migrations/</a:t>
            </a:r>
          </a:p>
          <a:p>
            <a:pPr>
              <a:spcAft>
                <a:spcPts val="800"/>
              </a:spcAft>
              <a:defRPr sz="1900">
                <a:solidFill>
                  <a:srgbClr val="2C3E50"/>
                </a:solidFill>
              </a:defRPr>
            </a:pPr>
            <a:r>
              <a:t>  ✓ README.md — setup, run, architecture</a:t>
            </a:r>
          </a:p>
          <a:p>
            <a:pPr>
              <a:spcAft>
                <a:spcPts val="800"/>
              </a:spcAft>
              <a:defRPr sz="1900">
                <a:solidFill>
                  <a:srgbClr val="2C3E50"/>
                </a:solidFill>
              </a:defRPr>
            </a:pPr>
            <a:r>
              <a:t>  ✓ requirements.txt</a:t>
            </a:r>
          </a:p>
          <a:p>
            <a:pPr>
              <a:spcAft>
                <a:spcPts val="800"/>
              </a:spcAft>
              <a:defRPr sz="1900">
                <a:solidFill>
                  <a:srgbClr val="2C3E50"/>
                </a:solidFill>
              </a:defRPr>
            </a:pPr>
            <a:r>
              <a:t>  ✓ .env.example</a:t>
            </a:r>
          </a:p>
          <a:p>
            <a:pPr>
              <a:spcAft>
                <a:spcPts val="800"/>
              </a:spcAft>
              <a:defRPr sz="1900">
                <a:solidFill>
                  <a:srgbClr val="2C3E50"/>
                </a:solidFill>
              </a:defRPr>
            </a:pPr>
          </a:p>
          <a:p>
            <a:pPr>
              <a:spcAft>
                <a:spcPts val="800"/>
              </a:spcAft>
              <a:defRPr sz="1900">
                <a:solidFill>
                  <a:srgbClr val="2C3E50"/>
                </a:solidFill>
              </a:defRPr>
            </a:pPr>
            <a:r>
              <a:t>Documentation (docs/):</a:t>
            </a:r>
          </a:p>
          <a:p>
            <a:pPr>
              <a:spcAft>
                <a:spcPts val="800"/>
              </a:spcAft>
              <a:defRPr sz="1900">
                <a:solidFill>
                  <a:srgbClr val="2C3E50"/>
                </a:solidFill>
              </a:defRPr>
            </a:pPr>
            <a:r>
              <a:t>  ✓ api_documentation.pdf — Swagger export</a:t>
            </a:r>
          </a:p>
          <a:p>
            <a:pPr>
              <a:spcAft>
                <a:spcPts val="800"/>
              </a:spcAft>
              <a:defRPr sz="1900">
                <a:solidFill>
                  <a:srgbClr val="2C3E50"/>
                </a:solidFill>
              </a:defRPr>
            </a:pPr>
            <a:r>
              <a:t>  ✓ TECHNICAL_REPORT.pdf — 5-page report</a:t>
            </a:r>
          </a:p>
          <a:p>
            <a:pPr>
              <a:spcAft>
                <a:spcPts val="800"/>
              </a:spcAft>
              <a:defRPr sz="1900">
                <a:solidFill>
                  <a:srgbClr val="2C3E50"/>
                </a:solidFill>
              </a:defRPr>
            </a:pPr>
            <a:r>
              <a:t>  ✓ openapi.json — OpenAPI spec</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GenAI Evidence (docs/):</a:t>
            </a:r>
          </a:p>
          <a:p>
            <a:pPr>
              <a:spcAft>
                <a:spcPts val="800"/>
              </a:spcAft>
              <a:defRPr sz="1900">
                <a:solidFill>
                  <a:srgbClr val="2C3E50"/>
                </a:solidFill>
              </a:defRPr>
            </a:pPr>
            <a:r>
              <a:t>  ✓ GENAI_DECLARATION.md + .pdf</a:t>
            </a:r>
          </a:p>
          <a:p>
            <a:pPr>
              <a:spcAft>
                <a:spcPts val="800"/>
              </a:spcAft>
              <a:defRPr sz="1900">
                <a:solidFill>
                  <a:srgbClr val="2C3E50"/>
                </a:solidFill>
              </a:defRPr>
            </a:pPr>
            <a:r>
              <a:t>  ✓ GENAI_CONVERSATION_LOGS.md</a:t>
            </a:r>
          </a:p>
          <a:p>
            <a:pPr>
              <a:spcAft>
                <a:spcPts val="800"/>
              </a:spcAft>
              <a:defRPr sz="1900">
                <a:solidFill>
                  <a:srgbClr val="2C3E50"/>
                </a:solidFill>
              </a:defRPr>
            </a:pPr>
            <a:r>
              <a:t>     (3 ChatGPT + 3 Copilot examples)</a:t>
            </a:r>
          </a:p>
          <a:p>
            <a:pPr>
              <a:spcAft>
                <a:spcPts val="800"/>
              </a:spcAft>
              <a:defRPr sz="1900">
                <a:solidFill>
                  <a:srgbClr val="2C3E50"/>
                </a:solidFill>
              </a:defRPr>
            </a:pPr>
          </a:p>
          <a:p>
            <a:pPr>
              <a:spcAft>
                <a:spcPts val="800"/>
              </a:spcAft>
              <a:defRPr sz="1900">
                <a:solidFill>
                  <a:srgbClr val="2C3E50"/>
                </a:solidFill>
              </a:defRPr>
            </a:pPr>
            <a:r>
              <a:t>Presentation:</a:t>
            </a:r>
          </a:p>
          <a:p>
            <a:pPr>
              <a:spcAft>
                <a:spcPts val="800"/>
              </a:spcAft>
              <a:defRPr sz="1900">
                <a:solidFill>
                  <a:srgbClr val="2C3E50"/>
                </a:solidFill>
              </a:defRPr>
            </a:pPr>
            <a:r>
              <a:t>  ✓ docs/PRESENTATION.pptx — this deck</a:t>
            </a:r>
          </a:p>
          <a:p>
            <a:pPr>
              <a:spcAft>
                <a:spcPts val="800"/>
              </a:spcAft>
              <a:defRPr sz="1900">
                <a:solidFill>
                  <a:srgbClr val="2C3E50"/>
                </a:solidFill>
              </a:defRPr>
            </a:pPr>
          </a:p>
          <a:p>
            <a:pPr>
              <a:spcAft>
                <a:spcPts val="800"/>
              </a:spcAft>
              <a:defRPr sz="1900">
                <a:solidFill>
                  <a:srgbClr val="2C3E50"/>
                </a:solidFill>
              </a:defRPr>
            </a:pPr>
            <a:r>
              <a:t>Deployment:</a:t>
            </a:r>
          </a:p>
          <a:p>
            <a:pPr>
              <a:spcAft>
                <a:spcPts val="800"/>
              </a:spcAft>
              <a:defRPr sz="1900">
                <a:solidFill>
                  <a:srgbClr val="2C3E50"/>
                </a:solidFill>
              </a:defRPr>
            </a:pPr>
            <a:r>
              <a:t>  ✓ Live on Render with verified endpoints</a:t>
            </a:r>
          </a:p>
          <a:p>
            <a:pPr>
              <a:spcAft>
                <a:spcPts val="800"/>
              </a:spcAft>
              <a:defRPr sz="1900">
                <a:solidFill>
                  <a:srgbClr val="2C3E50"/>
                </a:solidFill>
              </a:defRPr>
            </a:pPr>
            <a:r>
              <a:t>  ✓ /ui/ web dashboard accessible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91695" cy="320040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914400" tIns="548640"/>
          <a:lstStyle/>
          <a:p>
            <a:pPr algn="l">
              <a:defRPr sz="4000" b="1">
                <a:solidFill>
                  <a:srgbClr val="FFFFFF"/>
                </a:solidFill>
              </a:defRPr>
            </a:pPr>
            <a:r>
              <a:t>Summary</a:t>
            </a:r>
          </a:p>
          <a:p>
            <a:pPr algn="l">
              <a:spcBef>
                <a:spcPts val="400"/>
              </a:spcBef>
              <a:defRPr sz="2000">
                <a:solidFill>
                  <a:srgbClr val="E8EEF5"/>
                </a:solidFill>
              </a:defRPr>
            </a:pPr>
            <a:r>
              <a:t>• RESTful API with 12 endpoints, proper HTTP semantics, API key auth</a:t>
            </a:r>
          </a:p>
          <a:p>
            <a:pPr algn="l">
              <a:spcBef>
                <a:spcPts val="400"/>
              </a:spcBef>
              <a:defRPr sz="2000">
                <a:solidFill>
                  <a:srgbClr val="E8EEF5"/>
                </a:solidFill>
              </a:defRPr>
            </a:pPr>
            <a:r>
              <a:t>• Done-only logging with DB-enforced uniqueness (409 on duplicates)</a:t>
            </a:r>
          </a:p>
          <a:p>
            <a:pPr algn="l">
              <a:spcBef>
                <a:spcPts val="400"/>
              </a:spcBef>
              <a:defRPr sz="2000">
                <a:solidFill>
                  <a:srgbClr val="E8EEF5"/>
                </a:solidFill>
              </a:defRPr>
            </a:pPr>
            <a:r>
              <a:t>• Streak + weekly summary analytics</a:t>
            </a:r>
          </a:p>
          <a:p>
            <a:pPr algn="l">
              <a:spcBef>
                <a:spcPts val="400"/>
              </a:spcBef>
              <a:defRPr sz="2000">
                <a:solidFill>
                  <a:srgbClr val="E8EEF5"/>
                </a:solidFill>
              </a:defRPr>
            </a:pPr>
            <a:r>
              <a:t>• 14 automated tests — all passing</a:t>
            </a:r>
          </a:p>
          <a:p>
            <a:pPr algn="l">
              <a:spcBef>
                <a:spcPts val="400"/>
              </a:spcBef>
              <a:defRPr sz="2000">
                <a:solidFill>
                  <a:srgbClr val="E8EEF5"/>
                </a:solidFill>
              </a:defRPr>
            </a:pPr>
            <a:r>
              <a:t>• Deployed on Render with live /docs, /ui/, /health</a:t>
            </a:r>
          </a:p>
          <a:p>
            <a:pPr algn="l">
              <a:spcBef>
                <a:spcPts val="400"/>
              </a:spcBef>
              <a:defRPr sz="2000">
                <a:solidFill>
                  <a:srgbClr val="E8EEF5"/>
                </a:solidFill>
              </a:defRPr>
            </a:pPr>
            <a:r>
              <a:t>• 49 commits with conventional messages</a:t>
            </a:r>
          </a:p>
        </p:txBody>
      </p:sp>
      <p:sp>
        <p:nvSpPr>
          <p:cNvPr id="3" name="TextBox 2"/>
          <p:cNvSpPr txBox="1"/>
          <p:nvPr/>
        </p:nvSpPr>
        <p:spPr>
          <a:xfrm>
            <a:off x="731520" y="3840480"/>
            <a:ext cx="10515600" cy="4572000"/>
          </a:xfrm>
          <a:prstGeom prst="rect">
            <a:avLst/>
          </a:prstGeom>
          <a:noFill/>
        </p:spPr>
        <p:txBody>
          <a:bodyPr wrap="square">
            <a:spAutoFit/>
          </a:bodyPr>
          <a:lstStyle/>
          <a:p>
            <a:pPr>
              <a:spcAft>
                <a:spcPts val="800"/>
              </a:spcAft>
              <a:defRPr sz="2200">
                <a:solidFill>
                  <a:srgbClr val="2C3E50"/>
                </a:solidFill>
              </a:defRPr>
            </a:pPr>
            <a:r>
              <a:t>Thank you — questions welcome!</a:t>
            </a:r>
          </a:p>
          <a:p>
            <a:pPr>
              <a:spcAft>
                <a:spcPts val="800"/>
              </a:spcAft>
              <a:defRPr sz="2200">
                <a:solidFill>
                  <a:srgbClr val="2C3E50"/>
                </a:solidFill>
              </a:defRPr>
            </a:pPr>
          </a:p>
          <a:p>
            <a:pPr>
              <a:spcAft>
                <a:spcPts val="800"/>
              </a:spcAft>
              <a:defRPr sz="2200">
                <a:solidFill>
                  <a:srgbClr val="2C3E50"/>
                </a:solidFill>
              </a:defRPr>
            </a:pPr>
            <a:r>
              <a:t>Live demo:  https://comp3011-cw1-habit-api.onrender.com/docs</a:t>
            </a:r>
          </a:p>
          <a:p>
            <a:pPr>
              <a:spcAft>
                <a:spcPts val="800"/>
              </a:spcAft>
              <a:defRPr sz="2200">
                <a:solidFill>
                  <a:srgbClr val="2C3E50"/>
                </a:solidFill>
              </a:defRPr>
            </a:pPr>
            <a:r>
              <a:t>Dashboard:  https://comp3011-cw1-habit-api.onrender.com/ui/</a:t>
            </a:r>
          </a:p>
          <a:p>
            <a:pPr>
              <a:spcAft>
                <a:spcPts val="800"/>
              </a:spcAft>
              <a:defRPr sz="2200">
                <a:solidFill>
                  <a:srgbClr val="2C3E50"/>
                </a:solidFill>
              </a:defRPr>
            </a:pPr>
            <a:r>
              <a:t>GitHub:     github.com/NicolasIssa1/COMP3011-CW1-HABIT-API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